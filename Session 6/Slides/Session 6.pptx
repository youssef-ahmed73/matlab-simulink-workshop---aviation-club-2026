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345" r:id="rId3"/>
    <p:sldId id="384" r:id="rId4"/>
    <p:sldId id="396" r:id="rId5"/>
    <p:sldId id="398" r:id="rId6"/>
    <p:sldId id="399" r:id="rId7"/>
    <p:sldId id="400" r:id="rId8"/>
    <p:sldId id="401" r:id="rId9"/>
    <p:sldId id="402" r:id="rId10"/>
    <p:sldId id="403" r:id="rId11"/>
    <p:sldId id="31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3DD02-2584-1AAC-83C8-62D67E8B4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DF3B68-7274-88AB-3F14-07D743D48C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D2324-BD45-6AA3-CD5F-5E27A887FD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5DA070-2934-4614-8D9D-0458B30AE12B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DA4AD-D779-529A-819E-6D267D055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583CB4-F636-CC31-CD70-13BCE9A68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926EE6-B959-4337-8657-99255661A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677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C2046-C550-D253-445C-BA4B7C195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11EBC-5B39-8D4A-B01A-F0C0274B0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5CE9D-C450-8553-3E19-BC52CFB46C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5DA070-2934-4614-8D9D-0458B30AE12B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2A560-0F58-1E36-5242-EED744944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CFD4B-7965-9C58-EFE0-3813636F0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926EE6-B959-4337-8657-99255661A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316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012E7-0B7F-5753-0E1C-4C43BFEF9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339B6C-E0C0-B19D-8FDA-FA2A3E4F31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ED4BF1-73A3-69AF-B669-9B352F7B63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5DA070-2934-4614-8D9D-0458B30AE12B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1BF22C-C3DC-D44C-3CCE-8984BA68D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56D49-6066-C1C3-21AB-8F722B290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926EE6-B959-4337-8657-99255661A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183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73717-60AF-C232-A6B9-B5D777335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B6B95-1260-2D7D-2684-97ACCEE681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AF21EE-6D6D-6B7E-0C5C-8BEEF1859E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451CE-0D65-E4A1-5D0D-8CC39854B8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5DA070-2934-4614-8D9D-0458B30AE12B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70E3C1-A303-F3C0-7586-DA3F1AE27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EDAE34-4DD4-D015-4031-D412358C9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926EE6-B959-4337-8657-99255661A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307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5DD7A-4260-78FC-3326-2A87FA752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C8E180-D4DC-5BC0-D8B3-ED8F6774F0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60D10E-437C-0060-D7F7-8C99542A87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DB32A8-E91F-39FA-413B-7FCCAD2C99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8DF749-5CC8-46B2-9541-7BB9AF1C6A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36BC06-DACC-26F6-E897-C57364288B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5DA070-2934-4614-8D9D-0458B30AE12B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D9F1C2-1EA9-C40E-C9A2-FA15D0D4E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A7A6EE-FBCD-A0E4-F1AC-A9B9857C0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926EE6-B959-4337-8657-99255661A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555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081F7-1C72-ECA9-242A-81DC2F37A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BE3F5E-3A4F-EF1F-ABFD-39F5D0E2A1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5DA070-2934-4614-8D9D-0458B30AE12B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201FA7-33C3-86CB-374B-05C8ECC95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865599-FF8E-830E-6111-05BA00FBD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926EE6-B959-4337-8657-99255661A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336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CA4BEC-03DF-B331-F1B8-9E5B135415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5DA070-2934-4614-8D9D-0458B30AE12B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ED20F9-60C1-6370-6A0A-627E924C1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60E87-38C1-64EB-2C05-596F2F237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926EE6-B959-4337-8657-99255661A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672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4E93A-D9BA-E74E-FA97-3A96D363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4A949-81A7-7247-7DAC-C1B2C18DB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76E740-4624-EEA2-63A2-7A4FDA1E02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A14C1D-84D3-1561-6248-6B520FCD12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5DA070-2934-4614-8D9D-0458B30AE12B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60A0C4-369E-8396-6E32-4ED101AE4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908DFC-F4AD-0E71-F16A-6F16DDA42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926EE6-B959-4337-8657-99255661A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054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6F9BC-C033-0369-1DB3-45B2C0259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5400EE-DCCD-AAB0-CF8E-4952318223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F69D4-C16D-DB1E-AC7F-5353318811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13C061-B32E-666F-D3E2-DB0D8DF25E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5DA070-2934-4614-8D9D-0458B30AE12B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A54E18-F6E3-C1ED-BFB7-470C6E181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076E64-82F4-8478-C80F-FBA592863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926EE6-B959-4337-8657-99255661A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341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D3ECE-FE5B-CCD2-555A-70E6B3241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62C001-38C9-C6F9-BF11-F568C35BC0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7C23A-4235-A62D-D7F0-5636B8E2205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5DA070-2934-4614-8D9D-0458B30AE12B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FFE783-41AE-D416-2BEB-5AF26E1EB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9DEA82-009E-5447-81BE-9B09EA380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926EE6-B959-4337-8657-99255661A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749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BB1CB6-E746-A8DE-6138-08D3D6542F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D7824F-7DA5-71C6-74B5-E7F19D162E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F5B94-8561-1659-8689-77B51FAE7B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5DA070-2934-4614-8D9D-0458B30AE12B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E1A2BE-81D2-69C1-933C-6985CB3C6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DC380-2135-A757-178A-EA6538348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926EE6-B959-4337-8657-99255661A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110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4630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red text on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8A1CCC7E-6F70-0C85-F260-EEC3D4193FC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4653" y="101060"/>
            <a:ext cx="1913202" cy="11642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6E040BF-C392-052B-5990-6368B148E8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7764" y="6276175"/>
            <a:ext cx="473540" cy="4735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2F6409B-D42C-4D7E-A008-5B653A2362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2808" y="6276175"/>
            <a:ext cx="473541" cy="48002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2DBE55D-89D5-EB2E-8EEB-5AFCDE6977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5286" y="6276175"/>
            <a:ext cx="473540" cy="4735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73F3262-6093-07CC-62A6-960FBA04FA2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382" y="1595137"/>
            <a:ext cx="5507023" cy="25691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6565961-57E3-E87B-F2F6-43B5D745DF75}"/>
              </a:ext>
            </a:extLst>
          </p:cNvPr>
          <p:cNvSpPr txBox="1"/>
          <p:nvPr/>
        </p:nvSpPr>
        <p:spPr>
          <a:xfrm>
            <a:off x="0" y="5229812"/>
            <a:ext cx="44048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MATLAB &amp; Simulink workshop</a:t>
            </a:r>
          </a:p>
          <a:p>
            <a:endParaRPr lang="en-US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Made by: Youssef Ahmed</a:t>
            </a:r>
          </a:p>
        </p:txBody>
      </p:sp>
    </p:spTree>
    <p:extLst>
      <p:ext uri="{BB962C8B-B14F-4D97-AF65-F5344CB8AC3E}">
        <p14:creationId xmlns:p14="http://schemas.microsoft.com/office/powerpoint/2010/main" val="502464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BDC94-B74C-B268-FAF7-CE9E1C43E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ACE80423-3437-84C2-6E7A-321813DDF0D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6A28A4A-CE04-9DCD-38F7-93EEBE4F5EF9}"/>
              </a:ext>
            </a:extLst>
          </p:cNvPr>
          <p:cNvSpPr/>
          <p:nvPr/>
        </p:nvSpPr>
        <p:spPr>
          <a:xfrm>
            <a:off x="1503800" y="2315447"/>
            <a:ext cx="9184398" cy="1841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6600" dirty="0">
                <a:latin typeface="Arial Black" pitchFamily="34" charset="0"/>
              </a:rPr>
              <a:t>Introduction to Simulink</a:t>
            </a:r>
            <a:endParaRPr lang="ar-EG" sz="6600" dirty="0">
              <a:latin typeface="Arial Black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C73A78-ED01-9591-9EC9-6786E75E0D9F}"/>
              </a:ext>
            </a:extLst>
          </p:cNvPr>
          <p:cNvSpPr txBox="1"/>
          <p:nvPr/>
        </p:nvSpPr>
        <p:spPr>
          <a:xfrm>
            <a:off x="3765106" y="0"/>
            <a:ext cx="46457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rgbClr val="FF0000"/>
                </a:solidFill>
              </a:rPr>
              <a:t>Session 6</a:t>
            </a:r>
          </a:p>
        </p:txBody>
      </p:sp>
    </p:spTree>
    <p:extLst>
      <p:ext uri="{BB962C8B-B14F-4D97-AF65-F5344CB8AC3E}">
        <p14:creationId xmlns:p14="http://schemas.microsoft.com/office/powerpoint/2010/main" val="142935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93A9E-A1B8-5370-325D-3FA6BC424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BACDBBF7-90FC-AD3D-3560-38E74077944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C2CC9DD-EEAE-AA07-9675-129238105BD9}"/>
              </a:ext>
            </a:extLst>
          </p:cNvPr>
          <p:cNvSpPr txBox="1"/>
          <p:nvPr/>
        </p:nvSpPr>
        <p:spPr>
          <a:xfrm>
            <a:off x="3081183" y="130591"/>
            <a:ext cx="60296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Simulink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50FEF5-985D-A08B-807F-1A1EBB10D991}"/>
              </a:ext>
            </a:extLst>
          </p:cNvPr>
          <p:cNvSpPr txBox="1"/>
          <p:nvPr/>
        </p:nvSpPr>
        <p:spPr>
          <a:xfrm>
            <a:off x="2562823" y="961588"/>
            <a:ext cx="70663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Simulink Vs MATLAB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FB5299-9971-1819-AD2F-4EBA678278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557" y="2149698"/>
            <a:ext cx="2627671" cy="2627671"/>
          </a:xfrm>
          <a:prstGeom prst="rect">
            <a:avLst/>
          </a:prstGeom>
        </p:spPr>
      </p:pic>
      <p:pic>
        <p:nvPicPr>
          <p:cNvPr id="9" name="Picture 8" descr="A colorful curved object with a black background&#10;&#10;AI-generated content may be incorrect.">
            <a:extLst>
              <a:ext uri="{FF2B5EF4-FFF2-40B4-BE49-F238E27FC236}">
                <a16:creationId xmlns:a16="http://schemas.microsoft.com/office/drawing/2014/main" id="{50F47689-78A4-DE40-9BA4-BB5A97982F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55" r="12955" b="2111"/>
          <a:stretch>
            <a:fillRect/>
          </a:stretch>
        </p:blipFill>
        <p:spPr>
          <a:xfrm>
            <a:off x="7621848" y="2080632"/>
            <a:ext cx="3437595" cy="269673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7859E87-AB07-1E8D-B9E9-FD6D80FD21F3}"/>
              </a:ext>
            </a:extLst>
          </p:cNvPr>
          <p:cNvSpPr txBox="1"/>
          <p:nvPr/>
        </p:nvSpPr>
        <p:spPr>
          <a:xfrm>
            <a:off x="5018314" y="2828835"/>
            <a:ext cx="13454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bg1"/>
                </a:solidFill>
              </a:rPr>
              <a:t>VS</a:t>
            </a:r>
          </a:p>
        </p:txBody>
      </p:sp>
    </p:spTree>
    <p:extLst>
      <p:ext uri="{BB962C8B-B14F-4D97-AF65-F5344CB8AC3E}">
        <p14:creationId xmlns:p14="http://schemas.microsoft.com/office/powerpoint/2010/main" val="1524462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CA5E0-4F20-B75B-555B-052504316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BC405261-3083-AD1B-12D6-83FFADA537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E793E87-A475-E168-88FE-B410A9C4B8C2}"/>
              </a:ext>
            </a:extLst>
          </p:cNvPr>
          <p:cNvSpPr txBox="1"/>
          <p:nvPr/>
        </p:nvSpPr>
        <p:spPr>
          <a:xfrm>
            <a:off x="3081183" y="130591"/>
            <a:ext cx="60296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Simulink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D6882E-4C76-B0C2-B8A7-6547CD645CE4}"/>
              </a:ext>
            </a:extLst>
          </p:cNvPr>
          <p:cNvSpPr txBox="1"/>
          <p:nvPr/>
        </p:nvSpPr>
        <p:spPr>
          <a:xfrm>
            <a:off x="2562823" y="961588"/>
            <a:ext cx="70663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Basics of block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5CD627-5252-CDFD-374A-00D31F7C29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5669" y="2082218"/>
            <a:ext cx="9160662" cy="269356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707828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F36EB-7A9B-2441-0BF0-E72DD8AD3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470E4281-2FE0-B5DA-195C-F9FE7053A09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62557C-442C-D16E-27C9-9EF2BFA3D715}"/>
              </a:ext>
            </a:extLst>
          </p:cNvPr>
          <p:cNvSpPr txBox="1"/>
          <p:nvPr/>
        </p:nvSpPr>
        <p:spPr>
          <a:xfrm>
            <a:off x="3081183" y="130591"/>
            <a:ext cx="60296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Simulink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64A595-2CDC-4852-3640-80CB152A533E}"/>
              </a:ext>
            </a:extLst>
          </p:cNvPr>
          <p:cNvSpPr txBox="1"/>
          <p:nvPr/>
        </p:nvSpPr>
        <p:spPr>
          <a:xfrm>
            <a:off x="2562823" y="961588"/>
            <a:ext cx="70663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Basics of block diagram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1AD822-1CAC-3A79-D1A9-D5F43FC2F111}"/>
              </a:ext>
            </a:extLst>
          </p:cNvPr>
          <p:cNvSpPr txBox="1"/>
          <p:nvPr/>
        </p:nvSpPr>
        <p:spPr>
          <a:xfrm>
            <a:off x="2562821" y="1546363"/>
            <a:ext cx="70663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Example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8FFADD-EF3B-3D4D-A371-E3CD204797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915" y="2649680"/>
            <a:ext cx="10696170" cy="155864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804639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359A2-D8A5-9AD0-33C0-508B44C09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1EB73782-666B-8726-812A-E1FC5C28AC8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BF81375-B53B-A45F-91DD-078EC708095B}"/>
              </a:ext>
            </a:extLst>
          </p:cNvPr>
          <p:cNvSpPr txBox="1"/>
          <p:nvPr/>
        </p:nvSpPr>
        <p:spPr>
          <a:xfrm>
            <a:off x="3081183" y="130591"/>
            <a:ext cx="60296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Simulink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B0F3E8-DC8F-C9A5-35E1-956813913858}"/>
              </a:ext>
            </a:extLst>
          </p:cNvPr>
          <p:cNvSpPr txBox="1"/>
          <p:nvPr/>
        </p:nvSpPr>
        <p:spPr>
          <a:xfrm>
            <a:off x="2562823" y="961588"/>
            <a:ext cx="70663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Signals visualizations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344834F-B042-0943-C98E-07E9327E2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2945" y="1652175"/>
            <a:ext cx="5326111" cy="355365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217378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62168-8E1C-6730-CC9F-168E2F6A7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B6CC0966-041B-F670-9AD7-34AD0120E2F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379E938-3964-577B-0A92-C57E25BAADB5}"/>
              </a:ext>
            </a:extLst>
          </p:cNvPr>
          <p:cNvSpPr txBox="1"/>
          <p:nvPr/>
        </p:nvSpPr>
        <p:spPr>
          <a:xfrm>
            <a:off x="3081183" y="130591"/>
            <a:ext cx="60296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Simulink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25EEB2-8AF2-D663-3CEA-0EDA5E9C808F}"/>
              </a:ext>
            </a:extLst>
          </p:cNvPr>
          <p:cNvSpPr txBox="1"/>
          <p:nvPr/>
        </p:nvSpPr>
        <p:spPr>
          <a:xfrm>
            <a:off x="2562823" y="961588"/>
            <a:ext cx="70663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Commonly used blocks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83181E-AA7B-75EC-4B2D-31608EE727C5}"/>
              </a:ext>
            </a:extLst>
          </p:cNvPr>
          <p:cNvSpPr txBox="1"/>
          <p:nvPr/>
        </p:nvSpPr>
        <p:spPr>
          <a:xfrm>
            <a:off x="0" y="1905506"/>
            <a:ext cx="879987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We can categorize common blocks into: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Sources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Sinks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Mathematical operation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Dynamic &amp; ODE building blocks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Control flow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Signals routing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Special blocks (to/from workspace, MATLAB function)</a:t>
            </a:r>
            <a:endParaRPr lang="en-US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6676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3E0B8-15AC-3B72-8C48-C6C38FE27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DB903121-69E7-8C89-2E70-34A778B627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D842DB3-109C-11E3-645F-01540A43E4C2}"/>
              </a:ext>
            </a:extLst>
          </p:cNvPr>
          <p:cNvSpPr txBox="1"/>
          <p:nvPr/>
        </p:nvSpPr>
        <p:spPr>
          <a:xfrm>
            <a:off x="3081183" y="130591"/>
            <a:ext cx="60296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Simulink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925C43-A0E0-76D6-B34D-8CACED87526B}"/>
              </a:ext>
            </a:extLst>
          </p:cNvPr>
          <p:cNvSpPr txBox="1"/>
          <p:nvPr/>
        </p:nvSpPr>
        <p:spPr>
          <a:xfrm>
            <a:off x="2562823" y="961588"/>
            <a:ext cx="70663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Subsystems and abstraction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2CF25A-9629-0598-6736-0D81540B57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7341" y="1561701"/>
            <a:ext cx="6797318" cy="373459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222406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B299F-5A57-CABE-12D2-8A374D0BB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60F922AE-B08D-A8E7-E8EE-6080549D230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1656546-D652-30E2-5E83-1F3B39556C89}"/>
              </a:ext>
            </a:extLst>
          </p:cNvPr>
          <p:cNvSpPr txBox="1"/>
          <p:nvPr/>
        </p:nvSpPr>
        <p:spPr>
          <a:xfrm>
            <a:off x="3081183" y="130591"/>
            <a:ext cx="60296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Simulink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462BB8-E854-34A5-20E4-CB74140B660A}"/>
              </a:ext>
            </a:extLst>
          </p:cNvPr>
          <p:cNvSpPr txBox="1"/>
          <p:nvPr/>
        </p:nvSpPr>
        <p:spPr>
          <a:xfrm>
            <a:off x="2562823" y="961588"/>
            <a:ext cx="70663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Working with variables and workspace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265697-6130-B489-6129-01A00D69EC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7381" y="1651669"/>
            <a:ext cx="8057239" cy="355466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522876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21F56-30F4-3D70-25A0-21E6B28D8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9973868D-2997-DAD6-295B-B8AAFC0920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2FAC775-C416-8C69-04E2-CCD9FA264EFA}"/>
              </a:ext>
            </a:extLst>
          </p:cNvPr>
          <p:cNvSpPr txBox="1"/>
          <p:nvPr/>
        </p:nvSpPr>
        <p:spPr>
          <a:xfrm>
            <a:off x="3081183" y="130591"/>
            <a:ext cx="60296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Simulink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23FFA5-8B3D-9332-7B75-0D8C84B24703}"/>
              </a:ext>
            </a:extLst>
          </p:cNvPr>
          <p:cNvSpPr txBox="1"/>
          <p:nvPr/>
        </p:nvSpPr>
        <p:spPr>
          <a:xfrm>
            <a:off x="2562823" y="961588"/>
            <a:ext cx="70663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Modeling of ODEs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3887CE-B532-C68F-6F84-62459059AC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6836" y="1502667"/>
            <a:ext cx="5858326" cy="439374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FB439E9-D4A1-3043-31C6-94086C14719B}"/>
              </a:ext>
            </a:extLst>
          </p:cNvPr>
          <p:cNvSpPr/>
          <p:nvPr/>
        </p:nvSpPr>
        <p:spPr>
          <a:xfrm>
            <a:off x="4188542" y="3126658"/>
            <a:ext cx="1907458" cy="30234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179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C1E474-BEC1-D686-FC5C-323390384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559294"/>
            <a:ext cx="12191999" cy="6298279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-428"/>
            <a:ext cx="6096001" cy="6858000"/>
          </a:xfrm>
          <a:prstGeom prst="rect">
            <a:avLst/>
          </a:prstGeom>
          <a:gradFill>
            <a:gsLst>
              <a:gs pos="13000">
                <a:srgbClr val="000000">
                  <a:alpha val="72000"/>
                </a:srgbClr>
              </a:gs>
              <a:gs pos="99000">
                <a:schemeClr val="accent1">
                  <a:lumMod val="50000"/>
                  <a:alpha val="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0029C4-DA7C-2DA5-4E42-CD64C57E0E57}"/>
              </a:ext>
            </a:extLst>
          </p:cNvPr>
          <p:cNvSpPr/>
          <p:nvPr/>
        </p:nvSpPr>
        <p:spPr>
          <a:xfrm>
            <a:off x="1145136" y="1028700"/>
            <a:ext cx="9947305" cy="10906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you!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2B3ACB3-D689-442E-8A40-8680B0FEB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063256" y="400727"/>
            <a:ext cx="4065484" cy="8849062"/>
          </a:xfrm>
          <a:custGeom>
            <a:avLst/>
            <a:gdLst>
              <a:gd name="connsiteX0" fmla="*/ 0 w 4065484"/>
              <a:gd name="connsiteY0" fmla="*/ 4424531 h 8849062"/>
              <a:gd name="connsiteX1" fmla="*/ 3899197 w 4065484"/>
              <a:gd name="connsiteY1" fmla="*/ 8840480 h 8849062"/>
              <a:gd name="connsiteX2" fmla="*/ 4065484 w 4065484"/>
              <a:gd name="connsiteY2" fmla="*/ 8849062 h 8849062"/>
              <a:gd name="connsiteX3" fmla="*/ 4065483 w 4065484"/>
              <a:gd name="connsiteY3" fmla="*/ 0 h 8849062"/>
              <a:gd name="connsiteX4" fmla="*/ 3899197 w 4065484"/>
              <a:gd name="connsiteY4" fmla="*/ 8581 h 8849062"/>
              <a:gd name="connsiteX5" fmla="*/ 0 w 4065484"/>
              <a:gd name="connsiteY5" fmla="*/ 4424531 h 884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65484" h="8849062">
                <a:moveTo>
                  <a:pt x="0" y="4424531"/>
                </a:moveTo>
                <a:cubicBezTo>
                  <a:pt x="0" y="6722831"/>
                  <a:pt x="1709076" y="8613167"/>
                  <a:pt x="3899197" y="8840480"/>
                </a:cubicBezTo>
                <a:lnTo>
                  <a:pt x="4065484" y="8849062"/>
                </a:lnTo>
                <a:lnTo>
                  <a:pt x="4065483" y="0"/>
                </a:lnTo>
                <a:lnTo>
                  <a:pt x="3899197" y="8581"/>
                </a:lnTo>
                <a:cubicBezTo>
                  <a:pt x="1709075" y="235897"/>
                  <a:pt x="0" y="2126232"/>
                  <a:pt x="0" y="442453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"/>
                </a:schemeClr>
              </a:gs>
              <a:gs pos="68000">
                <a:schemeClr val="accent1">
                  <a:alpha val="15000"/>
                </a:schemeClr>
              </a:gs>
            </a:gsLst>
            <a:lin ang="21594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709224E7-DC9F-52B0-7643-14EACF5D714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840" t="-9893" r="-8840" b="12"/>
          <a:stretch>
            <a:fillRect/>
          </a:stretch>
        </p:blipFill>
        <p:spPr>
          <a:xfrm>
            <a:off x="1671466" y="2792088"/>
            <a:ext cx="8849063" cy="3859009"/>
          </a:xfrm>
          <a:custGeom>
            <a:avLst/>
            <a:gdLst/>
            <a:ahLst/>
            <a:cxnLst/>
            <a:rect l="l" t="t" r="r" b="b"/>
            <a:pathLst>
              <a:path w="7519558" h="3506255">
                <a:moveTo>
                  <a:pt x="3759779" y="0"/>
                </a:moveTo>
                <a:cubicBezTo>
                  <a:pt x="5713450" y="0"/>
                  <a:pt x="7320331" y="1484777"/>
                  <a:pt x="7513560" y="3387468"/>
                </a:cubicBezTo>
                <a:lnTo>
                  <a:pt x="7519558" y="3506255"/>
                </a:lnTo>
                <a:lnTo>
                  <a:pt x="0" y="3506255"/>
                </a:lnTo>
                <a:lnTo>
                  <a:pt x="5998" y="3387468"/>
                </a:lnTo>
                <a:cubicBezTo>
                  <a:pt x="199227" y="1484777"/>
                  <a:pt x="1806109" y="0"/>
                  <a:pt x="3759779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124367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4378</TotalTime>
  <Words>85</Words>
  <Application>Microsoft Office PowerPoint</Application>
  <PresentationFormat>Widescreen</PresentationFormat>
  <Paragraphs>32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Hazem Ahmed Khairy Ahmed Abd El Halim 2200398</dc:creator>
  <cp:lastModifiedBy>Youeesf Ahmed</cp:lastModifiedBy>
  <cp:revision>50</cp:revision>
  <dcterms:created xsi:type="dcterms:W3CDTF">2025-11-15T13:40:51Z</dcterms:created>
  <dcterms:modified xsi:type="dcterms:W3CDTF">2026-02-09T12:33:33Z</dcterms:modified>
</cp:coreProperties>
</file>