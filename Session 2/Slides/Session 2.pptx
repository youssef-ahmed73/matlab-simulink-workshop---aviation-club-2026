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45" r:id="rId3"/>
    <p:sldId id="364" r:id="rId4"/>
    <p:sldId id="344" r:id="rId5"/>
    <p:sldId id="346" r:id="rId6"/>
    <p:sldId id="347" r:id="rId7"/>
    <p:sldId id="353" r:id="rId8"/>
    <p:sldId id="348" r:id="rId9"/>
    <p:sldId id="350" r:id="rId10"/>
    <p:sldId id="349" r:id="rId11"/>
    <p:sldId id="352" r:id="rId12"/>
    <p:sldId id="351" r:id="rId13"/>
    <p:sldId id="354" r:id="rId14"/>
    <p:sldId id="355" r:id="rId15"/>
    <p:sldId id="356" r:id="rId16"/>
    <p:sldId id="357" r:id="rId17"/>
    <p:sldId id="362" r:id="rId18"/>
    <p:sldId id="358" r:id="rId19"/>
    <p:sldId id="360" r:id="rId20"/>
    <p:sldId id="361" r:id="rId21"/>
    <p:sldId id="363" r:id="rId22"/>
    <p:sldId id="365" r:id="rId23"/>
    <p:sldId id="366" r:id="rId24"/>
    <p:sldId id="367" r:id="rId25"/>
    <p:sldId id="368" r:id="rId26"/>
    <p:sldId id="31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3DD02-2584-1AAC-83C8-62D67E8B4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F3B68-7274-88AB-3F14-07D743D48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D2324-BD45-6AA3-CD5F-5E27A887F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A070-2934-4614-8D9D-0458B30AE12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DA4AD-D779-529A-819E-6D267D055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83CB4-F636-CC31-CD70-13BCE9A68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677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C2046-C550-D253-445C-BA4B7C195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11EBC-5B39-8D4A-B01A-F0C0274B0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5CE9D-C450-8553-3E19-BC52CFB46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A070-2934-4614-8D9D-0458B30AE12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2A560-0F58-1E36-5242-EED744944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CFD4B-7965-9C58-EFE0-3813636F0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316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012E7-0B7F-5753-0E1C-4C43BFEF9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39B6C-E0C0-B19D-8FDA-FA2A3E4F3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D4BF1-73A3-69AF-B669-9B352F7B6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A070-2934-4614-8D9D-0458B30AE12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BF22C-C3DC-D44C-3CCE-8984BA68D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56D49-6066-C1C3-21AB-8F722B290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183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73717-60AF-C232-A6B9-B5D777335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B6B95-1260-2D7D-2684-97ACCEE68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F21EE-6D6D-6B7E-0C5C-8BEEF1859E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451CE-0D65-E4A1-5D0D-8CC39854B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A070-2934-4614-8D9D-0458B30AE12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70E3C1-A303-F3C0-7586-DA3F1AE27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EDAE34-4DD4-D015-4031-D412358C9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307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5DD7A-4260-78FC-3326-2A87FA752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C8E180-D4DC-5BC0-D8B3-ED8F6774F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60D10E-437C-0060-D7F7-8C99542A8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DB32A8-E91F-39FA-413B-7FCCAD2C99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8DF749-5CC8-46B2-9541-7BB9AF1C6A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36BC06-DACC-26F6-E897-C57364288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A070-2934-4614-8D9D-0458B30AE12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D9F1C2-1EA9-C40E-C9A2-FA15D0D4E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A7A6EE-FBCD-A0E4-F1AC-A9B9857C0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555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081F7-1C72-ECA9-242A-81DC2F37A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BE3F5E-3A4F-EF1F-ABFD-39F5D0E2A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A070-2934-4614-8D9D-0458B30AE12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01FA7-33C3-86CB-374B-05C8ECC95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865599-FF8E-830E-6111-05BA00FBD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336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CA4BEC-03DF-B331-F1B8-9E5B13541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A070-2934-4614-8D9D-0458B30AE12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ED20F9-60C1-6370-6A0A-627E924C1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60E87-38C1-64EB-2C05-596F2F237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672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4E93A-D9BA-E74E-FA97-3A96D363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4A949-81A7-7247-7DAC-C1B2C18DB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76E740-4624-EEA2-63A2-7A4FDA1E0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A14C1D-84D3-1561-6248-6B520FCD1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A070-2934-4614-8D9D-0458B30AE12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0A0C4-369E-8396-6E32-4ED101AE4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908DFC-F4AD-0E71-F16A-6F16DDA42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054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6F9BC-C033-0369-1DB3-45B2C0259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5400EE-DCCD-AAB0-CF8E-4952318223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F69D4-C16D-DB1E-AC7F-5353318811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13C061-B32E-666F-D3E2-DB0D8DF25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A070-2934-4614-8D9D-0458B30AE12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A54E18-F6E3-C1ED-BFB7-470C6E181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76E64-82F4-8478-C80F-FBA592863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341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D3ECE-FE5B-CCD2-555A-70E6B3241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62C001-38C9-C6F9-BF11-F568C35BC0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7C23A-4235-A62D-D7F0-5636B8E22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A070-2934-4614-8D9D-0458B30AE12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FE783-41AE-D416-2BEB-5AF26E1EB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DEA82-009E-5447-81BE-9B09EA380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749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BB1CB6-E746-A8DE-6138-08D3D6542F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D7824F-7DA5-71C6-74B5-E7F19D162E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F5B94-8561-1659-8689-77B51FAE7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A070-2934-4614-8D9D-0458B30AE12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1A2BE-81D2-69C1-933C-6985CB3C6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DC380-2135-A757-178A-EA6538348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110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BAC917-FA00-FB8C-C9F4-96268EB80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887D31-0502-C954-F666-06C686893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F96DD-05A3-BB8C-578B-5563456C9D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5DA070-2934-4614-8D9D-0458B30AE12B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4669E-A2AE-53D6-A2AE-DCC64113F7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B2286-10BB-9DB6-0BE9-80BDBF395A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630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B36F87B-08F8-87ED-A688-565048A361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 descr="A picture containing screenshot, space, darkness, flight&#10;&#10;Description automatically generated">
            <a:extLst>
              <a:ext uri="{FF2B5EF4-FFF2-40B4-BE49-F238E27FC236}">
                <a16:creationId xmlns:a16="http://schemas.microsoft.com/office/drawing/2014/main" id="{D85C521F-EF14-DF28-0AEB-D7544D24F7E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253" y="-36094"/>
            <a:ext cx="12304295" cy="6908842"/>
          </a:xfrm>
          <a:prstGeom prst="rect">
            <a:avLst/>
          </a:prstGeom>
        </p:spPr>
      </p:pic>
      <p:pic>
        <p:nvPicPr>
          <p:cNvPr id="11" name="Picture 10" descr="A red text on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8A1CCC7E-6F70-0C85-F260-EEC3D4193F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4653" y="101060"/>
            <a:ext cx="1913202" cy="11642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E040BF-C392-052B-5990-6368B148E8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7764" y="6276175"/>
            <a:ext cx="473540" cy="4735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2F6409B-D42C-4D7E-A008-5B653A2362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2808" y="6276175"/>
            <a:ext cx="473541" cy="48002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2DBE55D-89D5-EB2E-8EEB-5AFCDE6977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25286" y="6276175"/>
            <a:ext cx="473540" cy="4735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3F3262-6093-07CC-62A6-960FBA04FA2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382" y="1595137"/>
            <a:ext cx="5507023" cy="2569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565961-57E3-E87B-F2F6-43B5D745DF75}"/>
              </a:ext>
            </a:extLst>
          </p:cNvPr>
          <p:cNvSpPr txBox="1"/>
          <p:nvPr/>
        </p:nvSpPr>
        <p:spPr>
          <a:xfrm>
            <a:off x="0" y="5229812"/>
            <a:ext cx="44048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MATLAB &amp; Simulink workshop</a:t>
            </a:r>
          </a:p>
          <a:p>
            <a:endParaRPr lang="en-US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Made by: Youssef Ahmed</a:t>
            </a:r>
          </a:p>
        </p:txBody>
      </p:sp>
    </p:spTree>
    <p:extLst>
      <p:ext uri="{BB962C8B-B14F-4D97-AF65-F5344CB8AC3E}">
        <p14:creationId xmlns:p14="http://schemas.microsoft.com/office/powerpoint/2010/main" val="502464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DC94-B74C-B268-FAF7-CE9E1C43E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4A58BABB-4D76-9397-40E5-A43422F6AC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ACE80423-3437-84C2-6E7A-321813DDF0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6A28A4A-CE04-9DCD-38F7-93EEBE4F5EF9}"/>
              </a:ext>
            </a:extLst>
          </p:cNvPr>
          <p:cNvSpPr/>
          <p:nvPr/>
        </p:nvSpPr>
        <p:spPr>
          <a:xfrm>
            <a:off x="1503800" y="2315447"/>
            <a:ext cx="9184398" cy="1841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6600" dirty="0">
                <a:latin typeface="Arial Black" pitchFamily="34" charset="0"/>
              </a:rPr>
              <a:t>Programming with MATLAB</a:t>
            </a:r>
            <a:endParaRPr lang="ar-EG" sz="6600" dirty="0">
              <a:latin typeface="Arial Black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C73A78-ED01-9591-9EC9-6786E75E0D9F}"/>
              </a:ext>
            </a:extLst>
          </p:cNvPr>
          <p:cNvSpPr txBox="1"/>
          <p:nvPr/>
        </p:nvSpPr>
        <p:spPr>
          <a:xfrm>
            <a:off x="3765106" y="199417"/>
            <a:ext cx="46457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FF0000"/>
                </a:solidFill>
              </a:rPr>
              <a:t>Session 2</a:t>
            </a:r>
          </a:p>
        </p:txBody>
      </p:sp>
    </p:spTree>
    <p:extLst>
      <p:ext uri="{BB962C8B-B14F-4D97-AF65-F5344CB8AC3E}">
        <p14:creationId xmlns:p14="http://schemas.microsoft.com/office/powerpoint/2010/main" val="142935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22302-5FFA-752D-D15A-44F2F06F9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E9BEF2D8-8A81-6189-2944-3881469915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35D0656A-D9EC-6E0B-930A-CF52EF5581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pic>
        <p:nvPicPr>
          <p:cNvPr id="9" name="Picture 8" descr="A purple and white rectangle with blue text&#10;&#10;AI-generated content may be incorrect.">
            <a:extLst>
              <a:ext uri="{FF2B5EF4-FFF2-40B4-BE49-F238E27FC236}">
                <a16:creationId xmlns:a16="http://schemas.microsoft.com/office/drawing/2014/main" id="{68E512D6-6276-4388-EDAA-F0892353FA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21" t="7797" r="13367" b="8540"/>
          <a:stretch>
            <a:fillRect/>
          </a:stretch>
        </p:blipFill>
        <p:spPr>
          <a:xfrm>
            <a:off x="3185326" y="1656863"/>
            <a:ext cx="5805303" cy="39803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E228EB-9688-37C1-4194-7887ACB5C0BA}"/>
              </a:ext>
            </a:extLst>
          </p:cNvPr>
          <p:cNvSpPr txBox="1"/>
          <p:nvPr/>
        </p:nvSpPr>
        <p:spPr>
          <a:xfrm>
            <a:off x="1651495" y="199417"/>
            <a:ext cx="88890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FF0000"/>
                </a:solidFill>
              </a:rPr>
              <a:t>Last session recap</a:t>
            </a:r>
          </a:p>
        </p:txBody>
      </p:sp>
    </p:spTree>
    <p:extLst>
      <p:ext uri="{BB962C8B-B14F-4D97-AF65-F5344CB8AC3E}">
        <p14:creationId xmlns:p14="http://schemas.microsoft.com/office/powerpoint/2010/main" val="3311807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27893-43FA-A97E-D7D2-AA06AC925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AE8E2E00-7DAC-21CB-185D-DE0468BDE1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1C9769AD-75E1-89C8-CF2D-8CF8385B97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46184B-FC07-0343-28E8-9C63ECD5C1FC}"/>
              </a:ext>
            </a:extLst>
          </p:cNvPr>
          <p:cNvSpPr txBox="1"/>
          <p:nvPr/>
        </p:nvSpPr>
        <p:spPr>
          <a:xfrm>
            <a:off x="3773127" y="130591"/>
            <a:ext cx="4645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Variables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B333B3-6C32-E273-7554-48451BDC5E9E}"/>
              </a:ext>
            </a:extLst>
          </p:cNvPr>
          <p:cNvSpPr txBox="1"/>
          <p:nvPr/>
        </p:nvSpPr>
        <p:spPr>
          <a:xfrm>
            <a:off x="147483" y="1997693"/>
            <a:ext cx="4945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What is a variable 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C90C88-1865-9B3A-D43B-20F3E8BAFE5A}"/>
              </a:ext>
            </a:extLst>
          </p:cNvPr>
          <p:cNvSpPr txBox="1"/>
          <p:nvPr/>
        </p:nvSpPr>
        <p:spPr>
          <a:xfrm>
            <a:off x="4879839" y="961588"/>
            <a:ext cx="2416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Introduction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9C6F964-7E93-4840-AC05-AA68644FD2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3111" y="1784024"/>
            <a:ext cx="6387014" cy="40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195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94860-8641-F250-E395-DE762B51E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60FBDC89-F7B6-A808-9206-16AE787FF5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38B27BC9-6CA8-0E57-D1E7-0AE6326512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9C2B92-C624-263B-D61A-AFA5D6D5BBBB}"/>
              </a:ext>
            </a:extLst>
          </p:cNvPr>
          <p:cNvSpPr txBox="1"/>
          <p:nvPr/>
        </p:nvSpPr>
        <p:spPr>
          <a:xfrm>
            <a:off x="3773127" y="130591"/>
            <a:ext cx="4645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Variables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002CE5-A8E0-ED58-4E87-B22EE7FDBCB4}"/>
              </a:ext>
            </a:extLst>
          </p:cNvPr>
          <p:cNvSpPr txBox="1"/>
          <p:nvPr/>
        </p:nvSpPr>
        <p:spPr>
          <a:xfrm>
            <a:off x="147483" y="1997693"/>
            <a:ext cx="49456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Everything in MATLAB is a matrix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CF1AFD-39D0-391A-4544-6CCCA3457FE9}"/>
              </a:ext>
            </a:extLst>
          </p:cNvPr>
          <p:cNvSpPr txBox="1"/>
          <p:nvPr/>
        </p:nvSpPr>
        <p:spPr>
          <a:xfrm>
            <a:off x="4879839" y="961588"/>
            <a:ext cx="2416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Introduction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BA7BDAA-6634-5F64-B7E8-D47CFDE98A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68"/>
          <a:stretch>
            <a:fillRect/>
          </a:stretch>
        </p:blipFill>
        <p:spPr>
          <a:xfrm>
            <a:off x="5997677" y="1997693"/>
            <a:ext cx="5936227" cy="363276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86273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3B4A6-4BDC-BDA9-A49C-EEEA26B8D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AF90AFD7-1DDE-5D89-2B44-5EFFD4CAB3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A202A573-3327-9FEA-04E9-2B8B0646F9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D96BFA-F9F6-68F6-4155-3A7586E98F3C}"/>
              </a:ext>
            </a:extLst>
          </p:cNvPr>
          <p:cNvSpPr txBox="1"/>
          <p:nvPr/>
        </p:nvSpPr>
        <p:spPr>
          <a:xfrm>
            <a:off x="3773127" y="130591"/>
            <a:ext cx="4645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Variables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D5EFE8-2678-DC64-9219-BC64036CED0D}"/>
              </a:ext>
            </a:extLst>
          </p:cNvPr>
          <p:cNvSpPr txBox="1"/>
          <p:nvPr/>
        </p:nvSpPr>
        <p:spPr>
          <a:xfrm>
            <a:off x="147483" y="1997693"/>
            <a:ext cx="49456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Different data types in MATLAB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DDF871-8466-0F12-81E1-62D6DA50F45F}"/>
              </a:ext>
            </a:extLst>
          </p:cNvPr>
          <p:cNvSpPr txBox="1"/>
          <p:nvPr/>
        </p:nvSpPr>
        <p:spPr>
          <a:xfrm>
            <a:off x="4879839" y="961588"/>
            <a:ext cx="2416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Data types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898CDD-C53F-2B47-EF3F-77BB6A2289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2877" y="1812137"/>
            <a:ext cx="5802655" cy="397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739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E99FA-7008-81FB-E115-DC68E3666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AFE9EB21-A750-996B-69E4-E3C4C8FBA6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A5F7A0E6-4693-47FC-ADF0-82BA412A08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4EF856-CD8E-2484-A0DB-33F1275EAAFD}"/>
              </a:ext>
            </a:extLst>
          </p:cNvPr>
          <p:cNvSpPr txBox="1"/>
          <p:nvPr/>
        </p:nvSpPr>
        <p:spPr>
          <a:xfrm>
            <a:off x="3773127" y="130591"/>
            <a:ext cx="4645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MATLAB time! </a:t>
            </a:r>
          </a:p>
        </p:txBody>
      </p:sp>
      <p:pic>
        <p:nvPicPr>
          <p:cNvPr id="9" name="Picture 8" descr="A colorful curved object with a black background&#10;&#10;AI-generated content may be incorrect.">
            <a:extLst>
              <a:ext uri="{FF2B5EF4-FFF2-40B4-BE49-F238E27FC236}">
                <a16:creationId xmlns:a16="http://schemas.microsoft.com/office/drawing/2014/main" id="{D3D57F77-23B7-339B-FE0E-EA32E0980D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55" r="12955" b="2111"/>
          <a:stretch>
            <a:fillRect/>
          </a:stretch>
        </p:blipFill>
        <p:spPr>
          <a:xfrm>
            <a:off x="3478782" y="1631475"/>
            <a:ext cx="5234434" cy="41063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761A539-FEBF-5048-4138-BBAF7694677E}"/>
              </a:ext>
            </a:extLst>
          </p:cNvPr>
          <p:cNvSpPr txBox="1"/>
          <p:nvPr/>
        </p:nvSpPr>
        <p:spPr>
          <a:xfrm>
            <a:off x="2027579" y="715366"/>
            <a:ext cx="81368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Now let’s see what we covered so far in MATLAB</a:t>
            </a:r>
          </a:p>
        </p:txBody>
      </p:sp>
    </p:spTree>
    <p:extLst>
      <p:ext uri="{BB962C8B-B14F-4D97-AF65-F5344CB8AC3E}">
        <p14:creationId xmlns:p14="http://schemas.microsoft.com/office/powerpoint/2010/main" val="3386475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2BADA-D92F-C27A-0821-0F0920A28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CF86BFF0-AE88-9A33-CEEB-5FFA40B64C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FE1B5215-6EA4-2909-D641-6F3284761E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DB7E88-CCD0-7E53-A9A0-65582BA2A411}"/>
              </a:ext>
            </a:extLst>
          </p:cNvPr>
          <p:cNvSpPr txBox="1"/>
          <p:nvPr/>
        </p:nvSpPr>
        <p:spPr>
          <a:xfrm>
            <a:off x="3773127" y="130591"/>
            <a:ext cx="4645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Operators</a:t>
            </a:r>
            <a:endParaRPr lang="en-US" sz="4800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64DF92-5196-55DD-2482-A3334D5B1F5C}"/>
              </a:ext>
            </a:extLst>
          </p:cNvPr>
          <p:cNvSpPr txBox="1"/>
          <p:nvPr/>
        </p:nvSpPr>
        <p:spPr>
          <a:xfrm>
            <a:off x="90062" y="961588"/>
            <a:ext cx="536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What does operator mean?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98DBFE-D6A1-755A-AE82-C9BE09161D93}"/>
              </a:ext>
            </a:extLst>
          </p:cNvPr>
          <p:cNvSpPr txBox="1"/>
          <p:nvPr/>
        </p:nvSpPr>
        <p:spPr>
          <a:xfrm>
            <a:off x="0" y="1792585"/>
            <a:ext cx="451300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Types of operator in MATLAB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</a:rPr>
              <a:t>Arithmetic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</a:rPr>
              <a:t>Relational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</a:rPr>
              <a:t>Logical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>
                <a:solidFill>
                  <a:schemeClr val="bg1"/>
                </a:solidFill>
              </a:rPr>
              <a:t>Others</a:t>
            </a:r>
          </a:p>
        </p:txBody>
      </p:sp>
      <p:pic>
        <p:nvPicPr>
          <p:cNvPr id="14" name="Picture 13" descr="A close-up of a logo&#10;&#10;AI-generated content may be incorrect.">
            <a:extLst>
              <a:ext uri="{FF2B5EF4-FFF2-40B4-BE49-F238E27FC236}">
                <a16:creationId xmlns:a16="http://schemas.microsoft.com/office/drawing/2014/main" id="{54541591-B4DA-2D15-68A8-8C5B2EA142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7978" y="1253975"/>
            <a:ext cx="5889693" cy="4038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279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37654-AC79-EA0E-93C5-1DADFC714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B3145138-F6FB-F2C5-DB87-3A5529014E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2A7D88D7-AC9F-9637-97A6-ECC39A414B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2907907-BC5E-B129-99A2-B73E12B69F6F}"/>
              </a:ext>
            </a:extLst>
          </p:cNvPr>
          <p:cNvSpPr txBox="1"/>
          <p:nvPr/>
        </p:nvSpPr>
        <p:spPr>
          <a:xfrm>
            <a:off x="4025749" y="846627"/>
            <a:ext cx="41404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Arithmetic operators</a:t>
            </a:r>
          </a:p>
        </p:txBody>
      </p:sp>
      <p:pic>
        <p:nvPicPr>
          <p:cNvPr id="4" name="Picture 3" descr="A table with symbols and numbers&#10;&#10;AI-generated content may be incorrect.">
            <a:extLst>
              <a:ext uri="{FF2B5EF4-FFF2-40B4-BE49-F238E27FC236}">
                <a16:creationId xmlns:a16="http://schemas.microsoft.com/office/drawing/2014/main" id="{BEE782D0-2BFE-2D53-A2CA-1685162E3D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42" b="7240"/>
          <a:stretch>
            <a:fillRect/>
          </a:stretch>
        </p:blipFill>
        <p:spPr>
          <a:xfrm>
            <a:off x="2649794" y="1616534"/>
            <a:ext cx="6892412" cy="43948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2707C75-1CA3-9710-84FD-507B4CBA2AC8}"/>
              </a:ext>
            </a:extLst>
          </p:cNvPr>
          <p:cNvSpPr txBox="1"/>
          <p:nvPr/>
        </p:nvSpPr>
        <p:spPr>
          <a:xfrm>
            <a:off x="3773127" y="130591"/>
            <a:ext cx="4645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Operators</a:t>
            </a:r>
            <a:endParaRPr lang="en-US" sz="4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956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25B7C-D5E6-C923-64EF-01F0F0FED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91899389-6898-EA77-FD43-435440055E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D877D89D-0065-16CE-B7F9-746F931A42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64100BA-6A11-01C4-463D-FDFE870BED70}"/>
              </a:ext>
            </a:extLst>
          </p:cNvPr>
          <p:cNvSpPr txBox="1"/>
          <p:nvPr/>
        </p:nvSpPr>
        <p:spPr>
          <a:xfrm>
            <a:off x="4207088" y="846627"/>
            <a:ext cx="37617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Relational operators</a:t>
            </a:r>
          </a:p>
        </p:txBody>
      </p:sp>
      <p:pic>
        <p:nvPicPr>
          <p:cNvPr id="8" name="Picture 7" descr="A close-up of a math table&#10;&#10;AI-generated content may be incorrect.">
            <a:extLst>
              <a:ext uri="{FF2B5EF4-FFF2-40B4-BE49-F238E27FC236}">
                <a16:creationId xmlns:a16="http://schemas.microsoft.com/office/drawing/2014/main" id="{000679BE-D941-79CA-68E4-25E0EA00C8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60"/>
          <a:stretch>
            <a:fillRect/>
          </a:stretch>
        </p:blipFill>
        <p:spPr>
          <a:xfrm>
            <a:off x="3002955" y="1554513"/>
            <a:ext cx="6186087" cy="43723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12000C-01EB-E036-D0AA-0FF57B629514}"/>
              </a:ext>
            </a:extLst>
          </p:cNvPr>
          <p:cNvSpPr txBox="1"/>
          <p:nvPr/>
        </p:nvSpPr>
        <p:spPr>
          <a:xfrm>
            <a:off x="3773127" y="130591"/>
            <a:ext cx="4645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Operators</a:t>
            </a:r>
            <a:endParaRPr lang="en-US" sz="4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639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1CB03-12B2-2D1C-648B-7A8386560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9892EDE4-9C47-1D42-3493-AD30ED71676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A94C03C0-F879-2F04-F2F6-9E249BC604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6FBC14-D5E5-87A6-222F-3BB73342CC77}"/>
              </a:ext>
            </a:extLst>
          </p:cNvPr>
          <p:cNvSpPr txBox="1"/>
          <p:nvPr/>
        </p:nvSpPr>
        <p:spPr>
          <a:xfrm>
            <a:off x="4215109" y="762570"/>
            <a:ext cx="37617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Logical operators</a:t>
            </a:r>
          </a:p>
        </p:txBody>
      </p:sp>
      <p:pic>
        <p:nvPicPr>
          <p:cNvPr id="4" name="Picture 3" descr="A black and white text with blue and red text&#10;&#10;AI-generated content may be incorrect.">
            <a:extLst>
              <a:ext uri="{FF2B5EF4-FFF2-40B4-BE49-F238E27FC236}">
                <a16:creationId xmlns:a16="http://schemas.microsoft.com/office/drawing/2014/main" id="{CFE82C80-D3BD-7809-DAD4-DB53C4E42F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79" b="4900"/>
          <a:stretch>
            <a:fillRect/>
          </a:stretch>
        </p:blipFill>
        <p:spPr>
          <a:xfrm>
            <a:off x="2697588" y="1445681"/>
            <a:ext cx="6796822" cy="44818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17ED371-7A87-5A25-69BF-B85758D41EC9}"/>
              </a:ext>
            </a:extLst>
          </p:cNvPr>
          <p:cNvSpPr txBox="1"/>
          <p:nvPr/>
        </p:nvSpPr>
        <p:spPr>
          <a:xfrm>
            <a:off x="3773127" y="130591"/>
            <a:ext cx="4645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Operators</a:t>
            </a:r>
            <a:endParaRPr lang="en-US" sz="4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3301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1F0EA-7AF0-9182-4550-C3EFFD951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702FE12A-CEF7-00EE-B5F1-AD45C739EE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4E62B4BF-DE67-EC26-B140-EC247FE381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CB39C8-DC64-5B4D-9A21-08AA32639CC7}"/>
              </a:ext>
            </a:extLst>
          </p:cNvPr>
          <p:cNvSpPr txBox="1"/>
          <p:nvPr/>
        </p:nvSpPr>
        <p:spPr>
          <a:xfrm>
            <a:off x="4207088" y="846627"/>
            <a:ext cx="37617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Other operators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250733-D962-D71A-EDD5-2571936754C0}"/>
              </a:ext>
            </a:extLst>
          </p:cNvPr>
          <p:cNvSpPr txBox="1"/>
          <p:nvPr/>
        </p:nvSpPr>
        <p:spPr>
          <a:xfrm>
            <a:off x="0" y="1431402"/>
            <a:ext cx="569287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Example of operator that is not arithmetic nor relational is the colon operator (:)</a:t>
            </a:r>
          </a:p>
        </p:txBody>
      </p:sp>
      <p:pic>
        <p:nvPicPr>
          <p:cNvPr id="9" name="Picture 8" descr="A yellow box with black text&#10;&#10;AI-generated content may be incorrect.">
            <a:extLst>
              <a:ext uri="{FF2B5EF4-FFF2-40B4-BE49-F238E27FC236}">
                <a16:creationId xmlns:a16="http://schemas.microsoft.com/office/drawing/2014/main" id="{4EE10C3C-2C89-55C2-D7A1-74ED8665EB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85" b="9964"/>
          <a:stretch>
            <a:fillRect/>
          </a:stretch>
        </p:blipFill>
        <p:spPr>
          <a:xfrm>
            <a:off x="5696479" y="1607145"/>
            <a:ext cx="6374908" cy="41334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762D07-A753-4ED5-1017-FCC9A46C61E3}"/>
              </a:ext>
            </a:extLst>
          </p:cNvPr>
          <p:cNvSpPr txBox="1"/>
          <p:nvPr/>
        </p:nvSpPr>
        <p:spPr>
          <a:xfrm>
            <a:off x="3773127" y="130591"/>
            <a:ext cx="4645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Operators</a:t>
            </a:r>
            <a:endParaRPr lang="en-US" sz="4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7109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E6073-55EB-783F-04F7-AC9061AAC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DFFDB169-271A-378D-5530-48242B96D1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9F8D18F0-1A09-2DC4-8AE5-A82AB2AA91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881DCB-7825-92C0-003A-E05119C2A9E0}"/>
              </a:ext>
            </a:extLst>
          </p:cNvPr>
          <p:cNvSpPr txBox="1"/>
          <p:nvPr/>
        </p:nvSpPr>
        <p:spPr>
          <a:xfrm>
            <a:off x="3773127" y="130591"/>
            <a:ext cx="4645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MATLAB time! </a:t>
            </a:r>
          </a:p>
        </p:txBody>
      </p:sp>
      <p:pic>
        <p:nvPicPr>
          <p:cNvPr id="9" name="Picture 8" descr="A colorful curved object with a black background&#10;&#10;AI-generated content may be incorrect.">
            <a:extLst>
              <a:ext uri="{FF2B5EF4-FFF2-40B4-BE49-F238E27FC236}">
                <a16:creationId xmlns:a16="http://schemas.microsoft.com/office/drawing/2014/main" id="{117C83F5-8DE2-605E-E400-A53B326B2D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55" r="12955" b="2111"/>
          <a:stretch>
            <a:fillRect/>
          </a:stretch>
        </p:blipFill>
        <p:spPr>
          <a:xfrm>
            <a:off x="3478782" y="1631475"/>
            <a:ext cx="5234434" cy="41063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457526E-D435-35E1-A431-A06EC6D3CC07}"/>
              </a:ext>
            </a:extLst>
          </p:cNvPr>
          <p:cNvSpPr txBox="1"/>
          <p:nvPr/>
        </p:nvSpPr>
        <p:spPr>
          <a:xfrm>
            <a:off x="2027579" y="715366"/>
            <a:ext cx="81368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Now let’s see what we covered so far in MATLAB</a:t>
            </a:r>
          </a:p>
        </p:txBody>
      </p:sp>
    </p:spTree>
    <p:extLst>
      <p:ext uri="{BB962C8B-B14F-4D97-AF65-F5344CB8AC3E}">
        <p14:creationId xmlns:p14="http://schemas.microsoft.com/office/powerpoint/2010/main" val="3463344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49523-FB98-31BC-2305-EA71C638F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F9EBE9A8-F80B-7706-C222-E9EFC8019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070CE1CA-18EF-7CCF-A5C7-E4BF555422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B53CC5-ED87-4494-D165-17B5062E32D7}"/>
              </a:ext>
            </a:extLst>
          </p:cNvPr>
          <p:cNvSpPr txBox="1"/>
          <p:nvPr/>
        </p:nvSpPr>
        <p:spPr>
          <a:xfrm>
            <a:off x="3773127" y="130591"/>
            <a:ext cx="4645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Control 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456295-00FA-A5E5-B198-C463CFF59B00}"/>
              </a:ext>
            </a:extLst>
          </p:cNvPr>
          <p:cNvSpPr txBox="1"/>
          <p:nvPr/>
        </p:nvSpPr>
        <p:spPr>
          <a:xfrm>
            <a:off x="147483" y="1997693"/>
            <a:ext cx="4945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What is if statement 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333B68-088E-0C0C-BC45-F6A8AEA3333F}"/>
              </a:ext>
            </a:extLst>
          </p:cNvPr>
          <p:cNvSpPr txBox="1"/>
          <p:nvPr/>
        </p:nvSpPr>
        <p:spPr>
          <a:xfrm>
            <a:off x="4879839" y="961588"/>
            <a:ext cx="2416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If statement</a:t>
            </a:r>
          </a:p>
        </p:txBody>
      </p:sp>
      <p:pic>
        <p:nvPicPr>
          <p:cNvPr id="8" name="Picture 7" descr="A diagram of a program&#10;&#10;AI-generated content may be incorrect.">
            <a:extLst>
              <a:ext uri="{FF2B5EF4-FFF2-40B4-BE49-F238E27FC236}">
                <a16:creationId xmlns:a16="http://schemas.microsoft.com/office/drawing/2014/main" id="{EC037463-0EFB-D8F3-7D04-1DD73D4502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3316" y="1626486"/>
            <a:ext cx="5791201" cy="4343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811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7FE90-CCBE-4CFB-407A-87C6CFF07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9AEFD6C5-FDC1-F84C-C785-059F551C98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7E9EC809-02F0-1947-6C89-45D863BD61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27A6E0-CA96-8432-AB60-11B600E511C5}"/>
              </a:ext>
            </a:extLst>
          </p:cNvPr>
          <p:cNvSpPr txBox="1"/>
          <p:nvPr/>
        </p:nvSpPr>
        <p:spPr>
          <a:xfrm>
            <a:off x="3773127" y="130591"/>
            <a:ext cx="4645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Control 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3677A5-EB3C-CCE8-15A7-2C0D119DDFB3}"/>
              </a:ext>
            </a:extLst>
          </p:cNvPr>
          <p:cNvSpPr txBox="1"/>
          <p:nvPr/>
        </p:nvSpPr>
        <p:spPr>
          <a:xfrm>
            <a:off x="147483" y="1997693"/>
            <a:ext cx="56240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What is if-else statement 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517639-2329-665F-6989-4C4A8E88AC71}"/>
              </a:ext>
            </a:extLst>
          </p:cNvPr>
          <p:cNvSpPr txBox="1"/>
          <p:nvPr/>
        </p:nvSpPr>
        <p:spPr>
          <a:xfrm>
            <a:off x="4494860" y="961588"/>
            <a:ext cx="3202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If-else statement</a:t>
            </a:r>
          </a:p>
        </p:txBody>
      </p:sp>
      <p:pic>
        <p:nvPicPr>
          <p:cNvPr id="9" name="Picture 8" descr="A diagram of a condition&#10;&#10;AI-generated content may be incorrect.">
            <a:extLst>
              <a:ext uri="{FF2B5EF4-FFF2-40B4-BE49-F238E27FC236}">
                <a16:creationId xmlns:a16="http://schemas.microsoft.com/office/drawing/2014/main" id="{615158B3-1F9D-B5A7-6707-104DAA37FF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7137" y="1721718"/>
            <a:ext cx="4140200" cy="443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123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5F34A-7839-D9B8-57F1-7380812F0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B151C1F6-1D39-5834-FE0C-F887785E70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74645DF1-E8DB-9683-0495-5AA13B6A05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338475-9C4A-B079-94B7-13F8633EDB73}"/>
              </a:ext>
            </a:extLst>
          </p:cNvPr>
          <p:cNvSpPr txBox="1"/>
          <p:nvPr/>
        </p:nvSpPr>
        <p:spPr>
          <a:xfrm>
            <a:off x="3773127" y="130591"/>
            <a:ext cx="4645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Control 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26EAE5-7CE0-9EBB-AA52-D062A3A1E8C2}"/>
              </a:ext>
            </a:extLst>
          </p:cNvPr>
          <p:cNvSpPr txBox="1"/>
          <p:nvPr/>
        </p:nvSpPr>
        <p:spPr>
          <a:xfrm>
            <a:off x="147483" y="1997693"/>
            <a:ext cx="48374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What is nested if-else statement 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0A8B68-3F0D-BEA6-80E7-B0A765C64418}"/>
              </a:ext>
            </a:extLst>
          </p:cNvPr>
          <p:cNvSpPr txBox="1"/>
          <p:nvPr/>
        </p:nvSpPr>
        <p:spPr>
          <a:xfrm>
            <a:off x="3832234" y="961588"/>
            <a:ext cx="45114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Nested if-else statement</a:t>
            </a:r>
          </a:p>
        </p:txBody>
      </p:sp>
      <p:pic>
        <p:nvPicPr>
          <p:cNvPr id="8" name="Picture 7" descr="A diagram of a diagram&#10;&#10;AI-generated content may be incorrect.">
            <a:extLst>
              <a:ext uri="{FF2B5EF4-FFF2-40B4-BE49-F238E27FC236}">
                <a16:creationId xmlns:a16="http://schemas.microsoft.com/office/drawing/2014/main" id="{C4A41089-DE5E-2EFD-12C3-80BD1465C0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684" y="1702328"/>
            <a:ext cx="4964772" cy="434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028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D9FB7-B19A-77E8-D60D-2E5180D48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4046A48C-889E-E622-744E-CA91ED584EF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8DB3E87F-A735-0DE8-8FC2-E8039F09DE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96BC6F-FCBF-5F5C-74AE-0CAF68E644A7}"/>
              </a:ext>
            </a:extLst>
          </p:cNvPr>
          <p:cNvSpPr txBox="1"/>
          <p:nvPr/>
        </p:nvSpPr>
        <p:spPr>
          <a:xfrm>
            <a:off x="3773127" y="130591"/>
            <a:ext cx="4645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Control 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4BB387-085E-0358-4FE9-3E52A68B9194}"/>
              </a:ext>
            </a:extLst>
          </p:cNvPr>
          <p:cNvSpPr txBox="1"/>
          <p:nvPr/>
        </p:nvSpPr>
        <p:spPr>
          <a:xfrm>
            <a:off x="147483" y="1997693"/>
            <a:ext cx="4837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What is switch case 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706039-3311-18EC-F231-2E8EB887E5BB}"/>
              </a:ext>
            </a:extLst>
          </p:cNvPr>
          <p:cNvSpPr txBox="1"/>
          <p:nvPr/>
        </p:nvSpPr>
        <p:spPr>
          <a:xfrm>
            <a:off x="3832234" y="961588"/>
            <a:ext cx="45114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Switch case</a:t>
            </a:r>
          </a:p>
        </p:txBody>
      </p:sp>
      <p:pic>
        <p:nvPicPr>
          <p:cNvPr id="9" name="Picture 8" descr="A diagram of a system&#10;&#10;AI-generated content may be incorrect.">
            <a:extLst>
              <a:ext uri="{FF2B5EF4-FFF2-40B4-BE49-F238E27FC236}">
                <a16:creationId xmlns:a16="http://schemas.microsoft.com/office/drawing/2014/main" id="{E46C542D-F540-5E5A-7324-8595F0D4EC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57" r="19254"/>
          <a:stretch>
            <a:fillRect/>
          </a:stretch>
        </p:blipFill>
        <p:spPr>
          <a:xfrm>
            <a:off x="7111059" y="1573693"/>
            <a:ext cx="4840022" cy="4456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863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3B84A-6A05-1E48-089C-4DA7105C1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1DF385FA-B543-C6A4-5666-FC8F42EAA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9E3C983D-DD45-CDC7-7F4F-4D05A997AC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AF0CFA-D908-E452-8D37-9EB53F08A3A0}"/>
              </a:ext>
            </a:extLst>
          </p:cNvPr>
          <p:cNvSpPr txBox="1"/>
          <p:nvPr/>
        </p:nvSpPr>
        <p:spPr>
          <a:xfrm>
            <a:off x="3773127" y="130591"/>
            <a:ext cx="4645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Control 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F67E56-7848-DBE9-4DCA-A0B2F0427459}"/>
              </a:ext>
            </a:extLst>
          </p:cNvPr>
          <p:cNvSpPr txBox="1"/>
          <p:nvPr/>
        </p:nvSpPr>
        <p:spPr>
          <a:xfrm>
            <a:off x="147483" y="1997693"/>
            <a:ext cx="48374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What is for loop ?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3200" b="1" dirty="0">
              <a:solidFill>
                <a:schemeClr val="bg1"/>
              </a:solidFill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What is it used for 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9F5A78-7DFE-47F5-E3BC-FEB7F10BE3E6}"/>
              </a:ext>
            </a:extLst>
          </p:cNvPr>
          <p:cNvSpPr txBox="1"/>
          <p:nvPr/>
        </p:nvSpPr>
        <p:spPr>
          <a:xfrm>
            <a:off x="4494860" y="961588"/>
            <a:ext cx="3202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For loop</a:t>
            </a:r>
          </a:p>
        </p:txBody>
      </p:sp>
      <p:pic>
        <p:nvPicPr>
          <p:cNvPr id="9" name="Picture 8" descr="A diagram of a software system&#10;&#10;AI-generated content may be incorrect.">
            <a:extLst>
              <a:ext uri="{FF2B5EF4-FFF2-40B4-BE49-F238E27FC236}">
                <a16:creationId xmlns:a16="http://schemas.microsoft.com/office/drawing/2014/main" id="{D6748256-3139-5B43-5604-6F7FB9BF24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20"/>
          <a:stretch>
            <a:fillRect/>
          </a:stretch>
        </p:blipFill>
        <p:spPr>
          <a:xfrm>
            <a:off x="7826478" y="1156347"/>
            <a:ext cx="3986300" cy="512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03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FF29A-729F-333F-74F9-B381FEC86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DBE5FA83-55F4-9910-3993-61E67F4324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24B1345F-2A26-615A-AB70-7F921BD02DF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D4366F-394B-2752-BA69-248E6573FB01}"/>
              </a:ext>
            </a:extLst>
          </p:cNvPr>
          <p:cNvSpPr txBox="1"/>
          <p:nvPr/>
        </p:nvSpPr>
        <p:spPr>
          <a:xfrm>
            <a:off x="3773127" y="130591"/>
            <a:ext cx="4645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Control 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903AF3-E6F1-74A7-FB08-1C3ECA7AE0A9}"/>
              </a:ext>
            </a:extLst>
          </p:cNvPr>
          <p:cNvSpPr txBox="1"/>
          <p:nvPr/>
        </p:nvSpPr>
        <p:spPr>
          <a:xfrm>
            <a:off x="147483" y="1997693"/>
            <a:ext cx="48374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What is while loop ?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3200" b="1" dirty="0">
              <a:solidFill>
                <a:schemeClr val="bg1"/>
              </a:solidFill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What is it used for 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467CDB-617C-0849-B001-88C57036C0B5}"/>
              </a:ext>
            </a:extLst>
          </p:cNvPr>
          <p:cNvSpPr txBox="1"/>
          <p:nvPr/>
        </p:nvSpPr>
        <p:spPr>
          <a:xfrm>
            <a:off x="4494860" y="961588"/>
            <a:ext cx="3202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While loop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F4865A-C7BC-065D-4BD1-F2FA244D9C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70" t="6881" b="18136"/>
          <a:stretch>
            <a:fillRect/>
          </a:stretch>
        </p:blipFill>
        <p:spPr>
          <a:xfrm>
            <a:off x="7590503" y="1546363"/>
            <a:ext cx="4333587" cy="4606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64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318B1-1A86-D140-ABD1-DF906CEFA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FE97441D-C4D2-7F49-6F36-A866F40BAB6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811B1494-2DD7-78B1-75A5-FA99A357B8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0054AF-7C73-8637-3A3F-341F7DE429DA}"/>
              </a:ext>
            </a:extLst>
          </p:cNvPr>
          <p:cNvSpPr txBox="1"/>
          <p:nvPr/>
        </p:nvSpPr>
        <p:spPr>
          <a:xfrm>
            <a:off x="3773127" y="130591"/>
            <a:ext cx="4645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MATLAB time! </a:t>
            </a:r>
          </a:p>
        </p:txBody>
      </p:sp>
      <p:pic>
        <p:nvPicPr>
          <p:cNvPr id="9" name="Picture 8" descr="A colorful curved object with a black background&#10;&#10;AI-generated content may be incorrect.">
            <a:extLst>
              <a:ext uri="{FF2B5EF4-FFF2-40B4-BE49-F238E27FC236}">
                <a16:creationId xmlns:a16="http://schemas.microsoft.com/office/drawing/2014/main" id="{C68AA007-E8EB-ABBB-3414-33F5F6E880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55" r="12955" b="2111"/>
          <a:stretch>
            <a:fillRect/>
          </a:stretch>
        </p:blipFill>
        <p:spPr>
          <a:xfrm>
            <a:off x="3478782" y="1631475"/>
            <a:ext cx="5234434" cy="41063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A380F68-CFF9-574D-C5B9-159AB25DDA59}"/>
              </a:ext>
            </a:extLst>
          </p:cNvPr>
          <p:cNvSpPr txBox="1"/>
          <p:nvPr/>
        </p:nvSpPr>
        <p:spPr>
          <a:xfrm>
            <a:off x="2027579" y="715366"/>
            <a:ext cx="81368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Now let’s see what we covered so far in MATLAB</a:t>
            </a:r>
          </a:p>
        </p:txBody>
      </p:sp>
    </p:spTree>
    <p:extLst>
      <p:ext uri="{BB962C8B-B14F-4D97-AF65-F5344CB8AC3E}">
        <p14:creationId xmlns:p14="http://schemas.microsoft.com/office/powerpoint/2010/main" val="1501177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BB3BB-0240-1A4D-F85C-B212B3069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EB162CD2-A3D4-C190-66EC-77264E45DA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F4C3D4ED-3486-B701-4B5D-096DBB6C3B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09B0FD1-04E8-83AC-5CED-39811A80C75B}"/>
              </a:ext>
            </a:extLst>
          </p:cNvPr>
          <p:cNvSpPr txBox="1"/>
          <p:nvPr/>
        </p:nvSpPr>
        <p:spPr>
          <a:xfrm>
            <a:off x="3773127" y="130591"/>
            <a:ext cx="4645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Problem solving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4F984A-9A39-331C-3060-CC5C58546792}"/>
              </a:ext>
            </a:extLst>
          </p:cNvPr>
          <p:cNvSpPr txBox="1"/>
          <p:nvPr/>
        </p:nvSpPr>
        <p:spPr>
          <a:xfrm>
            <a:off x="147483" y="1997693"/>
            <a:ext cx="47981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Try to generate this output for (n) number of rows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581384-1B49-E997-DD28-1C11F6E3EBEA}"/>
              </a:ext>
            </a:extLst>
          </p:cNvPr>
          <p:cNvSpPr txBox="1"/>
          <p:nvPr/>
        </p:nvSpPr>
        <p:spPr>
          <a:xfrm>
            <a:off x="3034770" y="920475"/>
            <a:ext cx="61224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Left-aligned star pyramid</a:t>
            </a:r>
          </a:p>
          <a:p>
            <a:pPr algn="ctr"/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871A56-ACB1-3824-10F9-8BE63ADDF3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7078" y="1268048"/>
            <a:ext cx="2340372" cy="5120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566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5F45C-C419-4FDB-4638-BF3EA1A96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ACEA7783-6937-F1A5-B6C3-7D35EE8069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3A60D5D4-383B-1E22-BB48-4B4FF11F48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76D0402-D561-07F9-F7B8-E5808DFF53AA}"/>
              </a:ext>
            </a:extLst>
          </p:cNvPr>
          <p:cNvSpPr txBox="1"/>
          <p:nvPr/>
        </p:nvSpPr>
        <p:spPr>
          <a:xfrm>
            <a:off x="3773127" y="130591"/>
            <a:ext cx="4645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Problem solving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761587-76E2-D879-C06B-4CEEF6D67A13}"/>
              </a:ext>
            </a:extLst>
          </p:cNvPr>
          <p:cNvSpPr txBox="1"/>
          <p:nvPr/>
        </p:nvSpPr>
        <p:spPr>
          <a:xfrm>
            <a:off x="0" y="1480493"/>
            <a:ext cx="897685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Check if a given year is a leap year or not A year is leap if it is:</a:t>
            </a:r>
          </a:p>
          <a:p>
            <a:endParaRPr lang="en-US" sz="3200" b="1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divisible by 400, OR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divisible by 4 AND NOT divisible by 100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4D8B2C-D9C0-7C08-0DFB-E48E378164A9}"/>
              </a:ext>
            </a:extLst>
          </p:cNvPr>
          <p:cNvSpPr txBox="1"/>
          <p:nvPr/>
        </p:nvSpPr>
        <p:spPr>
          <a:xfrm>
            <a:off x="3034770" y="920475"/>
            <a:ext cx="61224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Is leap year</a:t>
            </a:r>
          </a:p>
          <a:p>
            <a:pPr algn="ctr"/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6494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7035A-1DC6-5EAA-ABEA-9496AF82C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76FF4702-149B-CF17-F20E-1B22F35358E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0967ED50-D307-586E-F98B-5BCA2A6608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4E1E64-3D36-1FCF-7841-679C1B8A72C8}"/>
              </a:ext>
            </a:extLst>
          </p:cNvPr>
          <p:cNvSpPr txBox="1"/>
          <p:nvPr/>
        </p:nvSpPr>
        <p:spPr>
          <a:xfrm>
            <a:off x="3773127" y="130591"/>
            <a:ext cx="4645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Task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522B6B-3674-1F94-2EFA-C284FEC56E84}"/>
              </a:ext>
            </a:extLst>
          </p:cNvPr>
          <p:cNvSpPr txBox="1"/>
          <p:nvPr/>
        </p:nvSpPr>
        <p:spPr>
          <a:xfrm>
            <a:off x="0" y="961588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You are required to submit one script (.m file) with the solution of the following three problems(Comment your code with franco :D)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2F06BD-512F-3FBC-51DB-641613D300D9}"/>
              </a:ext>
            </a:extLst>
          </p:cNvPr>
          <p:cNvSpPr txBox="1"/>
          <p:nvPr/>
        </p:nvSpPr>
        <p:spPr>
          <a:xfrm>
            <a:off x="0" y="2038806"/>
            <a:ext cx="27235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1-Is valid date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5F397F-52D8-CBE1-2AD8-A007035E3D02}"/>
              </a:ext>
            </a:extLst>
          </p:cNvPr>
          <p:cNvSpPr txBox="1"/>
          <p:nvPr/>
        </p:nvSpPr>
        <p:spPr>
          <a:xfrm>
            <a:off x="0" y="2623581"/>
            <a:ext cx="970935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input is three variables: days, months, years check if the date is valid 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200" b="1" dirty="0">
                <a:solidFill>
                  <a:prstClr val="white"/>
                </a:solidFill>
                <a:latin typeface="Aptos" panose="02110004020202020204"/>
              </a:rPr>
              <a:t>Example: day =29 ;month =2; year=2023; -&gt;invalid</a:t>
            </a:r>
          </a:p>
          <a:p>
            <a:pPr marL="457200" lvl="0" indent="-457200">
              <a:buFont typeface="Arial" panose="020B0604020202020204" pitchFamily="34" charset="0"/>
              <a:buChar char="•"/>
              <a:defRPr/>
            </a:pPr>
            <a:r>
              <a:rPr lang="en-US" sz="3200" b="1" dirty="0">
                <a:solidFill>
                  <a:prstClr val="white"/>
                </a:solidFill>
                <a:latin typeface="Aptos" panose="02110004020202020204"/>
              </a:rPr>
              <a:t>Example: </a:t>
            </a:r>
            <a:r>
              <a:rPr lang="en-US" sz="3200" b="1" dirty="0">
                <a:solidFill>
                  <a:prstClr val="white"/>
                </a:solidFill>
              </a:rPr>
              <a:t>day =29 ;month =2; year=2024; -&gt;valid</a:t>
            </a:r>
            <a:endParaRPr lang="en-US" sz="3200" b="1" dirty="0">
              <a:solidFill>
                <a:prstClr val="white"/>
              </a:solidFill>
              <a:latin typeface="Aptos" panose="02110004020202020204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1525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C317F-699F-A949-C0F2-D1B11ACF3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79D7607C-BA81-7F18-A4A8-168488D310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6BF995F3-45C9-C223-F559-C14AF5D92A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F609F8-A888-7E39-7BEF-92E40F7B2BF1}"/>
              </a:ext>
            </a:extLst>
          </p:cNvPr>
          <p:cNvSpPr txBox="1"/>
          <p:nvPr/>
        </p:nvSpPr>
        <p:spPr>
          <a:xfrm>
            <a:off x="3773127" y="130591"/>
            <a:ext cx="4645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Task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686641-FB92-1C4B-4E03-69A8E6D83A60}"/>
              </a:ext>
            </a:extLst>
          </p:cNvPr>
          <p:cNvSpPr txBox="1"/>
          <p:nvPr/>
        </p:nvSpPr>
        <p:spPr>
          <a:xfrm>
            <a:off x="0" y="961588"/>
            <a:ext cx="121035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You are required to submit one script (.m file) with the solution of the following three problems: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6B3104-0588-77D9-47C0-D4866FBBE131}"/>
              </a:ext>
            </a:extLst>
          </p:cNvPr>
          <p:cNvSpPr txBox="1"/>
          <p:nvPr/>
        </p:nvSpPr>
        <p:spPr>
          <a:xfrm>
            <a:off x="0" y="2038806"/>
            <a:ext cx="3578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2-Leap year count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663315-B8AC-E60E-537D-380421AD556C}"/>
              </a:ext>
            </a:extLst>
          </p:cNvPr>
          <p:cNvSpPr txBox="1"/>
          <p:nvPr/>
        </p:nvSpPr>
        <p:spPr>
          <a:xfrm>
            <a:off x="0" y="2623581"/>
            <a:ext cx="113660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input is two leap years you are required to count how many leap years between them including the two provided years</a:t>
            </a:r>
          </a:p>
        </p:txBody>
      </p:sp>
    </p:spTree>
    <p:extLst>
      <p:ext uri="{BB962C8B-B14F-4D97-AF65-F5344CB8AC3E}">
        <p14:creationId xmlns:p14="http://schemas.microsoft.com/office/powerpoint/2010/main" val="242939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C9C60-4504-68EA-F005-0F200589B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95B724F0-DF86-9009-3166-3F0C4D6B67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34E76170-9A8D-9055-BB60-C18C3B5E74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D0C986-7B88-7633-B0FE-D44DB2025C7E}"/>
              </a:ext>
            </a:extLst>
          </p:cNvPr>
          <p:cNvSpPr txBox="1"/>
          <p:nvPr/>
        </p:nvSpPr>
        <p:spPr>
          <a:xfrm>
            <a:off x="3773127" y="130591"/>
            <a:ext cx="4645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Task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AD5266-09FE-2146-E1A3-55B8A9B0BC78}"/>
              </a:ext>
            </a:extLst>
          </p:cNvPr>
          <p:cNvSpPr txBox="1"/>
          <p:nvPr/>
        </p:nvSpPr>
        <p:spPr>
          <a:xfrm>
            <a:off x="0" y="961588"/>
            <a:ext cx="121035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You are required to submit one script (.m file) with the solution of the following three problems: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027BF5-E9B9-296C-522B-EE85112A3E68}"/>
              </a:ext>
            </a:extLst>
          </p:cNvPr>
          <p:cNvSpPr txBox="1"/>
          <p:nvPr/>
        </p:nvSpPr>
        <p:spPr>
          <a:xfrm>
            <a:off x="0" y="2038806"/>
            <a:ext cx="3578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3-Star pyramid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6FD1C5-A8BF-ED7D-347A-15C61D417252}"/>
              </a:ext>
            </a:extLst>
          </p:cNvPr>
          <p:cNvSpPr txBox="1"/>
          <p:nvPr/>
        </p:nvSpPr>
        <p:spPr>
          <a:xfrm>
            <a:off x="0" y="2623581"/>
            <a:ext cx="75905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input is the number of rows, and the output is this upright pyramid shape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C3FA68-6A86-3925-9EE4-A288AA5EDD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9935" y="1686156"/>
            <a:ext cx="3693658" cy="421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521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1E474-BEC1-D686-FC5C-323390384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65B6A5DB-CD73-8E7B-54B1-068BD52030F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709224E7-DC9F-52B0-7643-14EACF5D71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40029C4-DA7C-2DA5-4E42-CD64C57E0E57}"/>
              </a:ext>
            </a:extLst>
          </p:cNvPr>
          <p:cNvSpPr/>
          <p:nvPr/>
        </p:nvSpPr>
        <p:spPr>
          <a:xfrm>
            <a:off x="1503801" y="2508250"/>
            <a:ext cx="9184398" cy="1841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6600" dirty="0">
                <a:latin typeface="Arial Black" pitchFamily="34" charset="0"/>
              </a:rPr>
              <a:t>Thank you!</a:t>
            </a:r>
            <a:endParaRPr lang="ar-EG" sz="6600" dirty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4367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2219</TotalTime>
  <Words>411</Words>
  <Application>Microsoft Office PowerPoint</Application>
  <PresentationFormat>Widescreen</PresentationFormat>
  <Paragraphs>83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Hazem Ahmed Khairy Ahmed Abd El Halim 2200398</dc:creator>
  <cp:lastModifiedBy>youssef ahmed abdelfatah 2101059</cp:lastModifiedBy>
  <cp:revision>25</cp:revision>
  <dcterms:created xsi:type="dcterms:W3CDTF">2025-11-15T13:40:51Z</dcterms:created>
  <dcterms:modified xsi:type="dcterms:W3CDTF">2025-11-25T19:57:54Z</dcterms:modified>
</cp:coreProperties>
</file>