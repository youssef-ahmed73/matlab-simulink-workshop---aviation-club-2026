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5" r:id="rId3"/>
    <p:sldId id="378" r:id="rId4"/>
    <p:sldId id="379" r:id="rId5"/>
    <p:sldId id="380" r:id="rId6"/>
    <p:sldId id="364" r:id="rId7"/>
    <p:sldId id="344" r:id="rId8"/>
    <p:sldId id="381" r:id="rId9"/>
    <p:sldId id="382" r:id="rId10"/>
    <p:sldId id="383" r:id="rId11"/>
    <p:sldId id="353" r:id="rId12"/>
    <p:sldId id="366" r:id="rId13"/>
    <p:sldId id="367" r:id="rId14"/>
    <p:sldId id="368" r:id="rId15"/>
    <p:sldId id="369" r:id="rId16"/>
    <p:sldId id="31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DD02-2584-1AAC-83C8-62D67E8B4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B68-7274-88AB-3F14-07D743D48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D2324-BD45-6AA3-CD5F-5E27A887F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A4AD-D779-529A-819E-6D267D05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83CB4-F636-CC31-CD70-13BCE9A6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7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2046-C550-D253-445C-BA4B7C19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11EBC-5B39-8D4A-B01A-F0C0274B0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5CE9D-C450-8553-3E19-BC52CFB4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2A560-0F58-1E36-5242-EED74494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CFD4B-7965-9C58-EFE0-3813636F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31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12E7-0B7F-5753-0E1C-4C43BFEF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39B6C-E0C0-B19D-8FDA-FA2A3E4F3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D4BF1-73A3-69AF-B669-9B352F7B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BF22C-C3DC-D44C-3CCE-8984BA68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56D49-6066-C1C3-21AB-8F722B29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8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3717-60AF-C232-A6B9-B5D777335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B6B95-1260-2D7D-2684-97ACCEE68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F21EE-6D6D-6B7E-0C5C-8BEEF1859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451CE-0D65-E4A1-5D0D-8CC39854B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0E3C1-A303-F3C0-7586-DA3F1AE2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DAE34-4DD4-D015-4031-D412358C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0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DD7A-4260-78FC-3326-2A87FA75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8E180-D4DC-5BC0-D8B3-ED8F6774F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0D10E-437C-0060-D7F7-8C99542A8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B32A8-E91F-39FA-413B-7FCCAD2C99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8DF749-5CC8-46B2-9541-7BB9AF1C6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6BC06-DACC-26F6-E897-C5736428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9F1C2-1EA9-C40E-C9A2-FA15D0D4E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7A6EE-FBCD-A0E4-F1AC-A9B9857C0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5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81F7-1C72-ECA9-242A-81DC2F37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E3F5E-3A4F-EF1F-ABFD-39F5D0E2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01FA7-33C3-86CB-374B-05C8ECC95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65599-FF8E-830E-6111-05BA00FB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3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CA4BEC-03DF-B331-F1B8-9E5B1354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D20F9-60C1-6370-6A0A-627E924C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60E87-38C1-64EB-2C05-596F2F23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72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E93A-D9BA-E74E-FA97-3A96D363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4A949-81A7-7247-7DAC-C1B2C18D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6E740-4624-EEA2-63A2-7A4FDA1E0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14C1D-84D3-1561-6248-6B520FCD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0A0C4-369E-8396-6E32-4ED101AE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08DFC-F4AD-0E71-F16A-6F16DDA4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5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F9BC-C033-0369-1DB3-45B2C025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5400EE-DCCD-AAB0-CF8E-495231822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F69D4-C16D-DB1E-AC7F-535331881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3C061-B32E-666F-D3E2-DB0D8DF2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54E18-F6E3-C1ED-BFB7-470C6E18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76E64-82F4-8478-C80F-FBA59286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4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3ECE-FE5B-CCD2-555A-70E6B3241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2C001-38C9-C6F9-BF11-F568C35BC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C23A-4235-A62D-D7F0-5636B8E2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FE783-41AE-D416-2BEB-5AF26E1E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DEA82-009E-5447-81BE-9B09EA38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4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BB1CB6-E746-A8DE-6138-08D3D6542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7824F-7DA5-71C6-74B5-E7F19D162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F5B94-8561-1659-8689-77B51FAE7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1A2BE-81D2-69C1-933C-6985CB3C6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C380-2135-A757-178A-EA653834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1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BAC917-FA00-FB8C-C9F4-96268EB80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87D31-0502-C954-F666-06C686893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F96DD-05A3-BB8C-578B-5563456C9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4669E-A2AE-53D6-A2AE-DCC64113F7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B2286-10BB-9DB6-0BE9-80BDBF395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3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red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8A1CCC7E-6F70-0C85-F260-EEC3D4193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653" y="101060"/>
            <a:ext cx="1913202" cy="1164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E040BF-C392-052B-5990-6368B148E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764" y="6276175"/>
            <a:ext cx="473540" cy="4735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F6409B-D42C-4D7E-A008-5B653A236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808" y="6276175"/>
            <a:ext cx="473541" cy="4800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DBE55D-89D5-EB2E-8EEB-5AFCDE697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5286" y="6276175"/>
            <a:ext cx="473540" cy="473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3F3262-6093-07CC-62A6-960FBA04FA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382" y="1595137"/>
            <a:ext cx="5507023" cy="2569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565961-57E3-E87B-F2F6-43B5D745DF75}"/>
              </a:ext>
            </a:extLst>
          </p:cNvPr>
          <p:cNvSpPr txBox="1"/>
          <p:nvPr/>
        </p:nvSpPr>
        <p:spPr>
          <a:xfrm>
            <a:off x="0" y="5229812"/>
            <a:ext cx="4404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MATLAB &amp; Simulink workshop</a:t>
            </a:r>
          </a:p>
          <a:p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Made by: Youssef Ahmed</a:t>
            </a:r>
          </a:p>
        </p:txBody>
      </p:sp>
    </p:spTree>
    <p:extLst>
      <p:ext uri="{BB962C8B-B14F-4D97-AF65-F5344CB8AC3E}">
        <p14:creationId xmlns:p14="http://schemas.microsoft.com/office/powerpoint/2010/main" val="50246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DC94-B74C-B268-FAF7-CE9E1C43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CE80423-3437-84C2-6E7A-321813DDF0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6A28A4A-CE04-9DCD-38F7-93EEBE4F5EF9}"/>
              </a:ext>
            </a:extLst>
          </p:cNvPr>
          <p:cNvSpPr/>
          <p:nvPr/>
        </p:nvSpPr>
        <p:spPr>
          <a:xfrm>
            <a:off x="1503800" y="2315447"/>
            <a:ext cx="9184398" cy="1841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600" dirty="0">
                <a:latin typeface="Arial Black" pitchFamily="34" charset="0"/>
              </a:rPr>
              <a:t>Data Visualization</a:t>
            </a:r>
            <a:endParaRPr lang="ar-EG" sz="6600" dirty="0">
              <a:latin typeface="Arial Black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73A78-ED01-9591-9EC9-6786E75E0D9F}"/>
              </a:ext>
            </a:extLst>
          </p:cNvPr>
          <p:cNvSpPr txBox="1"/>
          <p:nvPr/>
        </p:nvSpPr>
        <p:spPr>
          <a:xfrm>
            <a:off x="3765106" y="0"/>
            <a:ext cx="4645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Session 4</a:t>
            </a:r>
          </a:p>
        </p:txBody>
      </p:sp>
    </p:spTree>
    <p:extLst>
      <p:ext uri="{BB962C8B-B14F-4D97-AF65-F5344CB8AC3E}">
        <p14:creationId xmlns:p14="http://schemas.microsoft.com/office/powerpoint/2010/main" val="14293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22302-5FFA-752D-D15A-44F2F06F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35D0656A-D9EC-6E0B-930A-CF52EF5581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pic>
        <p:nvPicPr>
          <p:cNvPr id="9" name="Picture 8" descr="A purple and white rectangle with blue text&#10;&#10;AI-generated content may be incorrect.">
            <a:extLst>
              <a:ext uri="{FF2B5EF4-FFF2-40B4-BE49-F238E27FC236}">
                <a16:creationId xmlns:a16="http://schemas.microsoft.com/office/drawing/2014/main" id="{68E512D6-6276-4388-EDAA-F0892353F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1" t="7797" r="13367" b="8540"/>
          <a:stretch>
            <a:fillRect/>
          </a:stretch>
        </p:blipFill>
        <p:spPr>
          <a:xfrm>
            <a:off x="3185326" y="1656863"/>
            <a:ext cx="5805303" cy="39803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E228EB-9688-37C1-4194-7887ACB5C0BA}"/>
              </a:ext>
            </a:extLst>
          </p:cNvPr>
          <p:cNvSpPr txBox="1"/>
          <p:nvPr/>
        </p:nvSpPr>
        <p:spPr>
          <a:xfrm>
            <a:off x="1651495" y="199417"/>
            <a:ext cx="8889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Last session recap</a:t>
            </a:r>
          </a:p>
        </p:txBody>
      </p:sp>
    </p:spTree>
    <p:extLst>
      <p:ext uri="{BB962C8B-B14F-4D97-AF65-F5344CB8AC3E}">
        <p14:creationId xmlns:p14="http://schemas.microsoft.com/office/powerpoint/2010/main" val="1513643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24EB5-E48C-E5B1-C8C5-FBAB63E4D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244A67E1-142D-C825-6A8A-EE0656A095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3B3A36-8BC6-8120-F278-E58EC5317C65}"/>
              </a:ext>
            </a:extLst>
          </p:cNvPr>
          <p:cNvSpPr txBox="1"/>
          <p:nvPr/>
        </p:nvSpPr>
        <p:spPr>
          <a:xfrm>
            <a:off x="604522" y="199417"/>
            <a:ext cx="116356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Part 1: MATLAB tips &amp; tricks</a:t>
            </a:r>
          </a:p>
        </p:txBody>
      </p:sp>
      <p:pic>
        <p:nvPicPr>
          <p:cNvPr id="8" name="Picture 7" descr="A computer screen with a ladder and icons&#10;&#10;AI-generated content may be incorrect.">
            <a:extLst>
              <a:ext uri="{FF2B5EF4-FFF2-40B4-BE49-F238E27FC236}">
                <a16:creationId xmlns:a16="http://schemas.microsoft.com/office/drawing/2014/main" id="{F7A6087E-484A-7D48-0F64-430E9B0C4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185" y="1399746"/>
            <a:ext cx="6253630" cy="34082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19380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41AEB-EEEA-4C59-143F-EA3717E5B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ED396E4B-4A01-E18A-6ABB-284F870935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21B845-BE29-76CA-D639-71BB5C395ACB}"/>
              </a:ext>
            </a:extLst>
          </p:cNvPr>
          <p:cNvSpPr txBox="1"/>
          <p:nvPr/>
        </p:nvSpPr>
        <p:spPr>
          <a:xfrm>
            <a:off x="3773127" y="130591"/>
            <a:ext cx="4645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MATLAB time! </a:t>
            </a:r>
          </a:p>
        </p:txBody>
      </p:sp>
      <p:pic>
        <p:nvPicPr>
          <p:cNvPr id="9" name="Picture 8" descr="A colorful curved object with a black background&#10;&#10;AI-generated content may be incorrect.">
            <a:extLst>
              <a:ext uri="{FF2B5EF4-FFF2-40B4-BE49-F238E27FC236}">
                <a16:creationId xmlns:a16="http://schemas.microsoft.com/office/drawing/2014/main" id="{61CA931A-17BC-80FA-7AEA-1623C2070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5" r="12955" b="2111"/>
          <a:stretch>
            <a:fillRect/>
          </a:stretch>
        </p:blipFill>
        <p:spPr>
          <a:xfrm>
            <a:off x="3478782" y="1631475"/>
            <a:ext cx="5234434" cy="41063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73C597-0FDA-6027-8CC3-BF1D9D0C47D1}"/>
              </a:ext>
            </a:extLst>
          </p:cNvPr>
          <p:cNvSpPr txBox="1"/>
          <p:nvPr/>
        </p:nvSpPr>
        <p:spPr>
          <a:xfrm>
            <a:off x="2027579" y="715366"/>
            <a:ext cx="8136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Now let’s see them live in MATLAB</a:t>
            </a:r>
          </a:p>
        </p:txBody>
      </p:sp>
    </p:spTree>
    <p:extLst>
      <p:ext uri="{BB962C8B-B14F-4D97-AF65-F5344CB8AC3E}">
        <p14:creationId xmlns:p14="http://schemas.microsoft.com/office/powerpoint/2010/main" val="402618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22302-5FFA-752D-D15A-44F2F06F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35D0656A-D9EC-6E0B-930A-CF52EF5581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E228EB-9688-37C1-4194-7887ACB5C0BA}"/>
              </a:ext>
            </a:extLst>
          </p:cNvPr>
          <p:cNvSpPr txBox="1"/>
          <p:nvPr/>
        </p:nvSpPr>
        <p:spPr>
          <a:xfrm>
            <a:off x="604522" y="199417"/>
            <a:ext cx="10982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Part 2: Data visualization</a:t>
            </a:r>
          </a:p>
        </p:txBody>
      </p:sp>
      <p:pic>
        <p:nvPicPr>
          <p:cNvPr id="4" name="Picture 3" descr="A person holding their hands out&#10;&#10;AI-generated content may be incorrect.">
            <a:extLst>
              <a:ext uri="{FF2B5EF4-FFF2-40B4-BE49-F238E27FC236}">
                <a16:creationId xmlns:a16="http://schemas.microsoft.com/office/drawing/2014/main" id="{4D6AF57A-2EED-F938-109C-0994AE98F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607" y="1399746"/>
            <a:ext cx="6518786" cy="432847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1180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27893-43FA-A97E-D7D2-AA06AC925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1C9769AD-75E1-89C8-CF2D-8CF8385B97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46184B-FC07-0343-28E8-9C63ECD5C1FC}"/>
              </a:ext>
            </a:extLst>
          </p:cNvPr>
          <p:cNvSpPr txBox="1"/>
          <p:nvPr/>
        </p:nvSpPr>
        <p:spPr>
          <a:xfrm>
            <a:off x="3081183" y="130591"/>
            <a:ext cx="6029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2D-Plotting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333B3-6C32-E273-7554-48451BDC5E9E}"/>
              </a:ext>
            </a:extLst>
          </p:cNvPr>
          <p:cNvSpPr txBox="1"/>
          <p:nvPr/>
        </p:nvSpPr>
        <p:spPr>
          <a:xfrm>
            <a:off x="124475" y="1546363"/>
            <a:ext cx="104910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Computer works on discrete domain, our world is continuous domain</a:t>
            </a:r>
            <a:endParaRPr lang="en-US" sz="3200" b="1" dirty="0">
              <a:solidFill>
                <a:schemeClr val="bg1"/>
              </a:solidFill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90C88-1865-9B3A-D43B-20F3E8BAFE5A}"/>
              </a:ext>
            </a:extLst>
          </p:cNvPr>
          <p:cNvSpPr txBox="1"/>
          <p:nvPr/>
        </p:nvSpPr>
        <p:spPr>
          <a:xfrm>
            <a:off x="2562823" y="961588"/>
            <a:ext cx="706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How can we get a plot on a computer ?</a:t>
            </a:r>
          </a:p>
        </p:txBody>
      </p:sp>
      <p:pic>
        <p:nvPicPr>
          <p:cNvPr id="15" name="Picture 14" descr="A graph of a function&#10;&#10;AI-generated content may be incorrect.">
            <a:extLst>
              <a:ext uri="{FF2B5EF4-FFF2-40B4-BE49-F238E27FC236}">
                <a16:creationId xmlns:a16="http://schemas.microsoft.com/office/drawing/2014/main" id="{776EE5D0-2441-BF20-4B6D-27805CB71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065" y="2131138"/>
            <a:ext cx="7217869" cy="36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9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4D8B9-C9CE-2E54-4212-1D317CD41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1899DF8B-90DB-8FDB-F651-894B1FABD4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7D21DE-D67F-F856-4E32-F03E8E33C368}"/>
              </a:ext>
            </a:extLst>
          </p:cNvPr>
          <p:cNvSpPr txBox="1"/>
          <p:nvPr/>
        </p:nvSpPr>
        <p:spPr>
          <a:xfrm>
            <a:off x="3081183" y="130591"/>
            <a:ext cx="6029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2D-Plotting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F950B0-2A69-090E-8AEE-20E5952C2B4E}"/>
              </a:ext>
            </a:extLst>
          </p:cNvPr>
          <p:cNvSpPr txBox="1"/>
          <p:nvPr/>
        </p:nvSpPr>
        <p:spPr>
          <a:xfrm>
            <a:off x="124475" y="1546363"/>
            <a:ext cx="104910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The more point the signal has the more accurate it is to plot</a:t>
            </a:r>
            <a:endParaRPr lang="en-US" sz="3200" b="1" dirty="0">
              <a:solidFill>
                <a:schemeClr val="bg1"/>
              </a:solidFill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F3967A-FD8A-DCE8-4DA1-A51C3F13F449}"/>
              </a:ext>
            </a:extLst>
          </p:cNvPr>
          <p:cNvSpPr txBox="1"/>
          <p:nvPr/>
        </p:nvSpPr>
        <p:spPr>
          <a:xfrm>
            <a:off x="2562823" y="961588"/>
            <a:ext cx="706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Resolution concept</a:t>
            </a:r>
          </a:p>
        </p:txBody>
      </p:sp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6286D675-F4E0-5FDE-0400-8078390F23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893" y="2100988"/>
            <a:ext cx="7326214" cy="375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06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80FD-6717-4937-DB21-437BD5B76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D095D99D-5D15-F9B1-8BA4-D1FA6BB29B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C1EB99-CBC6-4CB7-57C6-D82B5BD85C40}"/>
              </a:ext>
            </a:extLst>
          </p:cNvPr>
          <p:cNvSpPr txBox="1"/>
          <p:nvPr/>
        </p:nvSpPr>
        <p:spPr>
          <a:xfrm>
            <a:off x="3081183" y="130591"/>
            <a:ext cx="6029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3D-Plotting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F9C0E4-A793-71A2-CE29-AD65F748E24A}"/>
              </a:ext>
            </a:extLst>
          </p:cNvPr>
          <p:cNvSpPr txBox="1"/>
          <p:nvPr/>
        </p:nvSpPr>
        <p:spPr>
          <a:xfrm>
            <a:off x="124474" y="1546363"/>
            <a:ext cx="107794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The 3D plot can change depending on the number of independent variables</a:t>
            </a:r>
            <a:endParaRPr lang="en-US" sz="3200" b="1" dirty="0">
              <a:solidFill>
                <a:schemeClr val="bg1"/>
              </a:solidFill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A5D13-D8EB-28A2-39CB-C10FF174BFC6}"/>
              </a:ext>
            </a:extLst>
          </p:cNvPr>
          <p:cNvSpPr txBox="1"/>
          <p:nvPr/>
        </p:nvSpPr>
        <p:spPr>
          <a:xfrm>
            <a:off x="2562823" y="961588"/>
            <a:ext cx="706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Types of 3D-plots</a:t>
            </a:r>
          </a:p>
        </p:txBody>
      </p:sp>
      <p:pic>
        <p:nvPicPr>
          <p:cNvPr id="9" name="Picture 8" descr="A colorful graph on a white background&#10;&#10;AI-generated content may be incorrect.">
            <a:extLst>
              <a:ext uri="{FF2B5EF4-FFF2-40B4-BE49-F238E27FC236}">
                <a16:creationId xmlns:a16="http://schemas.microsoft.com/office/drawing/2014/main" id="{DB059ECB-ABB5-AB60-38FB-90E139FCB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452" y="1977512"/>
            <a:ext cx="4762642" cy="3566957"/>
          </a:xfrm>
          <a:prstGeom prst="rect">
            <a:avLst/>
          </a:prstGeom>
        </p:spPr>
      </p:pic>
      <p:pic>
        <p:nvPicPr>
          <p:cNvPr id="11" name="Picture 10" descr="A graph of a graph with a blue line&#10;&#10;AI-generated content may be incorrect.">
            <a:extLst>
              <a:ext uri="{FF2B5EF4-FFF2-40B4-BE49-F238E27FC236}">
                <a16:creationId xmlns:a16="http://schemas.microsoft.com/office/drawing/2014/main" id="{4B9821F4-9025-CD3E-79F5-B6DE1B5CF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91" y="2031916"/>
            <a:ext cx="4610863" cy="345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751AF-3CA2-D0FE-AE6C-4FAF994D7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E5302C3A-54B8-2330-BDAA-31E1F07C46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58AD93-CCB6-BCA5-BE4C-952719C2B74D}"/>
              </a:ext>
            </a:extLst>
          </p:cNvPr>
          <p:cNvSpPr txBox="1"/>
          <p:nvPr/>
        </p:nvSpPr>
        <p:spPr>
          <a:xfrm>
            <a:off x="3081183" y="130591"/>
            <a:ext cx="6029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Animation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69C68-5ABC-BFF1-21FC-E47786BC2C32}"/>
              </a:ext>
            </a:extLst>
          </p:cNvPr>
          <p:cNvSpPr txBox="1"/>
          <p:nvPr/>
        </p:nvSpPr>
        <p:spPr>
          <a:xfrm>
            <a:off x="2562823" y="961588"/>
            <a:ext cx="706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Animation concept</a:t>
            </a:r>
          </a:p>
        </p:txBody>
      </p:sp>
      <p:pic>
        <p:nvPicPr>
          <p:cNvPr id="8" name="Picture 7" descr="A hand holding a paper roll over a card&#10;&#10;AI-generated content may be incorrect.">
            <a:extLst>
              <a:ext uri="{FF2B5EF4-FFF2-40B4-BE49-F238E27FC236}">
                <a16:creationId xmlns:a16="http://schemas.microsoft.com/office/drawing/2014/main" id="{2C0F7A34-4656-614D-FF0E-A75BAB3D99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429" y="1546363"/>
            <a:ext cx="7901141" cy="444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2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99FA-7008-81FB-E115-DC68E3666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5F7A0E6-4693-47FC-ADF0-82BA412A08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4EF856-CD8E-2484-A0DB-33F1275EAAFD}"/>
              </a:ext>
            </a:extLst>
          </p:cNvPr>
          <p:cNvSpPr txBox="1"/>
          <p:nvPr/>
        </p:nvSpPr>
        <p:spPr>
          <a:xfrm>
            <a:off x="3773127" y="130591"/>
            <a:ext cx="4645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MATLAB time! </a:t>
            </a:r>
          </a:p>
        </p:txBody>
      </p:sp>
      <p:pic>
        <p:nvPicPr>
          <p:cNvPr id="9" name="Picture 8" descr="A colorful curved object with a black background&#10;&#10;AI-generated content may be incorrect.">
            <a:extLst>
              <a:ext uri="{FF2B5EF4-FFF2-40B4-BE49-F238E27FC236}">
                <a16:creationId xmlns:a16="http://schemas.microsoft.com/office/drawing/2014/main" id="{D3D57F77-23B7-339B-FE0E-EA32E0980D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5" r="12955" b="2111"/>
          <a:stretch>
            <a:fillRect/>
          </a:stretch>
        </p:blipFill>
        <p:spPr>
          <a:xfrm>
            <a:off x="3478782" y="1631475"/>
            <a:ext cx="5234434" cy="41063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61A539-FEBF-5048-4138-BBAF7694677E}"/>
              </a:ext>
            </a:extLst>
          </p:cNvPr>
          <p:cNvSpPr txBox="1"/>
          <p:nvPr/>
        </p:nvSpPr>
        <p:spPr>
          <a:xfrm>
            <a:off x="2027579" y="715366"/>
            <a:ext cx="8136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Now let’s see what we covered so far in MATLAB</a:t>
            </a:r>
          </a:p>
        </p:txBody>
      </p:sp>
    </p:spTree>
    <p:extLst>
      <p:ext uri="{BB962C8B-B14F-4D97-AF65-F5344CB8AC3E}">
        <p14:creationId xmlns:p14="http://schemas.microsoft.com/office/powerpoint/2010/main" val="338647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7035A-1DC6-5EAA-ABEA-9496AF82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0967ED50-D307-586E-F98B-5BCA2A6608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4E1E64-3D36-1FCF-7841-679C1B8A72C8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22B6B-3674-1F94-2EFA-C284FEC56E84}"/>
              </a:ext>
            </a:extLst>
          </p:cNvPr>
          <p:cNvSpPr txBox="1"/>
          <p:nvPr/>
        </p:nvSpPr>
        <p:spPr>
          <a:xfrm>
            <a:off x="0" y="961588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You are required to submit one script (.m file) with the solution of the following problem (Comment your code with your own language is a must)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2F06BD-512F-3FBC-51DB-641613D300D9}"/>
              </a:ext>
            </a:extLst>
          </p:cNvPr>
          <p:cNvSpPr txBox="1"/>
          <p:nvPr/>
        </p:nvSpPr>
        <p:spPr>
          <a:xfrm>
            <a:off x="0" y="1921659"/>
            <a:ext cx="8642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</a:rPr>
              <a:t>animateFunction</a:t>
            </a:r>
            <a:r>
              <a:rPr lang="en-US" sz="3200" dirty="0">
                <a:solidFill>
                  <a:srgbClr val="FF0000"/>
                </a:solidFill>
              </a:rPr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5F397F-52D8-CBE1-2AD8-A007035E3D02}"/>
              </a:ext>
            </a:extLst>
          </p:cNvPr>
          <p:cNvSpPr txBox="1"/>
          <p:nvPr/>
        </p:nvSpPr>
        <p:spPr>
          <a:xfrm>
            <a:off x="0" y="2746692"/>
            <a:ext cx="12240125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1-Overview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You are tasked with implementing a MATLAB function that generates an animated plot of mathematical functions and saves it as a video file.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user specifies whether the animation should be 2D or 3D using a string input (‘2d’ or ‘3d’).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function should automatically determine the exact plot type (2D curve, 3D curve, or 3D surface) based on the number and type of the provided function handles.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animation should gradually reveal the curve or surface, and the video should be saved under the user-specified name.</a:t>
            </a:r>
            <a:endParaRPr lang="en-US" sz="2200" dirty="0">
              <a:solidFill>
                <a:prstClr val="white"/>
              </a:solidFill>
              <a:latin typeface="Aptos" panose="02110004020202020204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52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E0932-9508-17EB-5F89-867D7A643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E0A5355D-8BA6-6DB4-D923-3F8FE42756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E209A9-50A8-B476-4D71-4F3BAA707B19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Task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3F9E6-7D62-9085-1BB8-B0B1E3223368}"/>
              </a:ext>
            </a:extLst>
          </p:cNvPr>
          <p:cNvSpPr txBox="1"/>
          <p:nvPr/>
        </p:nvSpPr>
        <p:spPr>
          <a:xfrm>
            <a:off x="1" y="856357"/>
            <a:ext cx="122401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2-Inputs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 function should have the following form:</a:t>
            </a:r>
            <a:b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	</a:t>
            </a:r>
            <a:r>
              <a:rPr kumimoji="0" lang="en-US" sz="22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animateFunction</a:t>
            </a:r>
            <a:r>
              <a:rPr lang="en-US" sz="2200" b="1" i="1" dirty="0">
                <a:solidFill>
                  <a:prstClr val="white"/>
                </a:solidFill>
              </a:rPr>
              <a:t>(</a:t>
            </a:r>
            <a:r>
              <a:rPr lang="en-US" sz="2200" b="1" i="1" dirty="0" err="1">
                <a:solidFill>
                  <a:prstClr val="white"/>
                </a:solidFill>
              </a:rPr>
              <a:t>plotType</a:t>
            </a:r>
            <a:r>
              <a:rPr lang="en-US" sz="2200" b="1" i="1" dirty="0">
                <a:solidFill>
                  <a:prstClr val="white"/>
                </a:solidFill>
              </a:rPr>
              <a:t>, resolution, </a:t>
            </a:r>
            <a:r>
              <a:rPr lang="en-US" sz="2200" b="1" i="1" dirty="0" err="1">
                <a:solidFill>
                  <a:prstClr val="white"/>
                </a:solidFill>
              </a:rPr>
              <a:t>videoName</a:t>
            </a:r>
            <a:r>
              <a:rPr lang="en-US" sz="2200" b="1" i="1" dirty="0">
                <a:solidFill>
                  <a:prstClr val="white"/>
                </a:solidFill>
              </a:rPr>
              <a:t>, func1, </a:t>
            </a:r>
            <a:r>
              <a:rPr lang="en-US" sz="2200" b="1" i="1" dirty="0" err="1">
                <a:solidFill>
                  <a:prstClr val="white"/>
                </a:solidFill>
              </a:rPr>
              <a:t>varargin</a:t>
            </a:r>
            <a:r>
              <a:rPr lang="en-US" sz="2200" b="1" i="1" dirty="0">
                <a:solidFill>
                  <a:prstClr val="white"/>
                </a:solidFill>
              </a:rPr>
              <a:t>)</a:t>
            </a:r>
          </a:p>
          <a:p>
            <a:pPr lvl="0"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Where: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kumimoji="0" lang="en-US" sz="220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plotType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(string): </a:t>
            </a:r>
            <a:r>
              <a:rPr lang="en-US" sz="2200" dirty="0">
                <a:solidFill>
                  <a:prstClr val="white"/>
                </a:solidFill>
                <a:latin typeface="Aptos" panose="02110004020202020204"/>
              </a:rPr>
              <a:t>‘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2d’ or </a:t>
            </a:r>
            <a:r>
              <a:rPr lang="en-US" sz="2200" dirty="0">
                <a:solidFill>
                  <a:prstClr val="white"/>
                </a:solidFill>
                <a:latin typeface="Aptos" panose="02110004020202020204"/>
              </a:rPr>
              <a:t>‘</a:t>
            </a: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3d’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Function handles: One or more MATLAB function handles representing the mathematical functions to plot</a:t>
            </a:r>
          </a:p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Aptos" panose="02110004020202020204"/>
              </a:rPr>
              <a:t>Hint: </a:t>
            </a:r>
            <a:r>
              <a:rPr lang="en-US" sz="2400" dirty="0">
                <a:solidFill>
                  <a:srgbClr val="FF0000"/>
                </a:solidFill>
              </a:rPr>
              <a:t>You can check if a variable (x for example) is a function handler using:</a:t>
            </a:r>
          </a:p>
          <a:p>
            <a:pPr>
              <a:defRPr/>
            </a:pPr>
            <a:r>
              <a:rPr lang="en-US" sz="2400" dirty="0">
                <a:solidFill>
                  <a:srgbClr val="FF0000"/>
                </a:solidFill>
              </a:rPr>
              <a:t>		 </a:t>
            </a:r>
            <a:r>
              <a:rPr lang="en-US" sz="2400" i="1" dirty="0">
                <a:solidFill>
                  <a:srgbClr val="FF0000"/>
                </a:solidFill>
              </a:rPr>
              <a:t>isa(x, '</a:t>
            </a:r>
            <a:r>
              <a:rPr lang="en-US" sz="2400" i="1" dirty="0" err="1">
                <a:solidFill>
                  <a:srgbClr val="FF0000"/>
                </a:solidFill>
              </a:rPr>
              <a:t>function_handle</a:t>
            </a:r>
            <a:r>
              <a:rPr lang="en-US" sz="2400" i="1" dirty="0">
                <a:solidFill>
                  <a:srgbClr val="FF0000"/>
                </a:solidFill>
              </a:rPr>
              <a:t>’)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white"/>
                </a:solidFill>
              </a:rPr>
              <a:t>Resolution: Number of points used to sample the function(s)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white"/>
                </a:solidFill>
              </a:rPr>
              <a:t>Video name (string): Name of the output video file.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white"/>
                </a:solidFill>
              </a:rPr>
              <a:t>Optional axis-limit vectors: 0, 1, or 3 vectors specifying axis limits: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white"/>
                </a:solidFill>
              </a:rPr>
              <a:t>0 vectors → all axes default to [0, 4*pi]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white"/>
                </a:solidFill>
              </a:rPr>
              <a:t>1 vector → same limits apply to all axes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white"/>
                </a:solidFill>
              </a:rPr>
              <a:t>3 vectors → applied individually to x, y, and z axes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438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AFCD2-07CF-3317-5663-14E4B4ECC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391523C5-48D0-2E2B-7FF1-C944D72966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3CAC73-2769-3373-E750-A4D39D7318ED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Task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CDD11-3172-760A-AB91-7D511A110FF9}"/>
              </a:ext>
            </a:extLst>
          </p:cNvPr>
          <p:cNvSpPr txBox="1"/>
          <p:nvPr/>
        </p:nvSpPr>
        <p:spPr>
          <a:xfrm>
            <a:off x="1" y="856357"/>
            <a:ext cx="1224012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dirty="0">
                <a:solidFill>
                  <a:prstClr val="white"/>
                </a:solidFill>
                <a:latin typeface="Aptos" panose="02110004020202020204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-Scenarios Depending on Inputs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en-US" sz="2200" dirty="0">
                <a:solidFill>
                  <a:prstClr val="white"/>
                </a:solidFill>
                <a:latin typeface="Aptos" panose="02110004020202020204"/>
              </a:rPr>
              <a:t>2D Mode (</a:t>
            </a:r>
            <a:r>
              <a:rPr lang="en-US" sz="2200" dirty="0" err="1">
                <a:solidFill>
                  <a:prstClr val="white"/>
                </a:solidFill>
                <a:latin typeface="Aptos" panose="02110004020202020204"/>
              </a:rPr>
              <a:t>plotType</a:t>
            </a:r>
            <a:r>
              <a:rPr lang="en-US" sz="2200" dirty="0">
                <a:solidFill>
                  <a:prstClr val="white"/>
                </a:solidFill>
                <a:latin typeface="Aptos" panose="02110004020202020204"/>
              </a:rPr>
              <a:t> = ‘2d’):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white"/>
                </a:solidFill>
              </a:rPr>
              <a:t>One function handle: Plot y = f(t) vs t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white"/>
                </a:solidFill>
              </a:rPr>
              <a:t>Two function handles: Plot a 2D curve: the first function defines the x-axis, the second defines the y-axis. </a:t>
            </a:r>
            <a:endParaRPr lang="en-US" sz="2200" dirty="0">
              <a:solidFill>
                <a:prstClr val="white"/>
              </a:solidFill>
              <a:latin typeface="Aptos" panose="02110004020202020204"/>
            </a:endParaRP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en-US" sz="2200" dirty="0">
                <a:solidFill>
                  <a:prstClr val="white"/>
                </a:solidFill>
                <a:latin typeface="Aptos" panose="02110004020202020204"/>
              </a:rPr>
              <a:t>3D Mode (</a:t>
            </a:r>
            <a:r>
              <a:rPr lang="en-US" sz="2200" dirty="0" err="1">
                <a:solidFill>
                  <a:prstClr val="white"/>
                </a:solidFill>
                <a:latin typeface="Aptos" panose="02110004020202020204"/>
              </a:rPr>
              <a:t>plotType</a:t>
            </a:r>
            <a:r>
              <a:rPr lang="en-US" sz="2200" dirty="0">
                <a:solidFill>
                  <a:prstClr val="white"/>
                </a:solidFill>
                <a:latin typeface="Aptos" panose="02110004020202020204"/>
              </a:rPr>
              <a:t> = ‘3d’)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white"/>
                </a:solidFill>
                <a:latin typeface="Aptos" panose="02110004020202020204"/>
              </a:rPr>
              <a:t>Single function handle with two inputs: Create a 3D surface z = f(x, y) you can use </a:t>
            </a:r>
            <a:r>
              <a:rPr lang="en-US" sz="2200" dirty="0" err="1">
                <a:solidFill>
                  <a:prstClr val="white"/>
                </a:solidFill>
                <a:latin typeface="Aptos" panose="02110004020202020204"/>
              </a:rPr>
              <a:t>meshgrid</a:t>
            </a:r>
            <a:r>
              <a:rPr lang="en-US" sz="2200" dirty="0">
                <a:solidFill>
                  <a:prstClr val="white"/>
                </a:solidFill>
                <a:latin typeface="Aptos" panose="02110004020202020204"/>
              </a:rPr>
              <a:t>() to evaluate the domain (independent variables)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en-US" sz="2200" dirty="0">
                <a:solidFill>
                  <a:prstClr val="white"/>
                </a:solidFill>
                <a:latin typeface="Aptos" panose="02110004020202020204"/>
              </a:rPr>
              <a:t>Two or three single-input function handles: Create a 3D curve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fr-FR" sz="2200" dirty="0" err="1">
                <a:solidFill>
                  <a:prstClr val="white"/>
                </a:solidFill>
                <a:latin typeface="Aptos" panose="02110004020202020204"/>
              </a:rPr>
              <a:t>Two</a:t>
            </a:r>
            <a:r>
              <a:rPr lang="fr-FR" sz="2200" dirty="0">
                <a:solidFill>
                  <a:prstClr val="white"/>
                </a:solidFill>
                <a:latin typeface="Aptos" panose="02110004020202020204"/>
              </a:rPr>
              <a:t> </a:t>
            </a:r>
            <a:r>
              <a:rPr lang="fr-FR" sz="2200" dirty="0" err="1">
                <a:solidFill>
                  <a:prstClr val="white"/>
                </a:solidFill>
                <a:latin typeface="Aptos" panose="02110004020202020204"/>
              </a:rPr>
              <a:t>functions</a:t>
            </a:r>
            <a:r>
              <a:rPr lang="fr-FR" sz="2200" dirty="0">
                <a:solidFill>
                  <a:prstClr val="white"/>
                </a:solidFill>
                <a:latin typeface="Aptos" panose="02110004020202020204"/>
              </a:rPr>
              <a:t> → (x, y, z) = (t, f1(t), f2(t))</a:t>
            </a:r>
          </a:p>
          <a:p>
            <a:pPr marL="1257300" lvl="2" indent="-342900">
              <a:buFont typeface="Arial" panose="020B0604020202020204" pitchFamily="34" charset="0"/>
              <a:buChar char="•"/>
              <a:defRPr/>
            </a:pPr>
            <a:r>
              <a:rPr lang="fr-FR" sz="2200" dirty="0" err="1">
                <a:solidFill>
                  <a:prstClr val="white"/>
                </a:solidFill>
                <a:latin typeface="Aptos" panose="02110004020202020204"/>
              </a:rPr>
              <a:t>Three</a:t>
            </a:r>
            <a:r>
              <a:rPr lang="fr-FR" sz="2200" dirty="0">
                <a:solidFill>
                  <a:prstClr val="white"/>
                </a:solidFill>
                <a:latin typeface="Aptos" panose="02110004020202020204"/>
              </a:rPr>
              <a:t> </a:t>
            </a:r>
            <a:r>
              <a:rPr lang="fr-FR" sz="2200" dirty="0" err="1">
                <a:solidFill>
                  <a:prstClr val="white"/>
                </a:solidFill>
                <a:latin typeface="Aptos" panose="02110004020202020204"/>
              </a:rPr>
              <a:t>functions</a:t>
            </a:r>
            <a:r>
              <a:rPr lang="fr-FR" sz="2200" dirty="0">
                <a:solidFill>
                  <a:prstClr val="white"/>
                </a:solidFill>
                <a:latin typeface="Aptos" panose="02110004020202020204"/>
              </a:rPr>
              <a:t> → (x, y, z) = (f1(t), f2(t), f3(t))</a:t>
            </a:r>
            <a:endParaRPr lang="en-US" sz="2200" dirty="0">
              <a:solidFill>
                <a:prstClr val="white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5232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34E1E-9906-0C2A-7734-DDDCB1E32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C32BD7D7-EC31-B55A-54A3-613B29ADB9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0CCCAA-565A-997A-1067-5E222772E11C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Task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4CA96-DA0B-2283-EAB0-59FEC3F72240}"/>
              </a:ext>
            </a:extLst>
          </p:cNvPr>
          <p:cNvSpPr txBox="1"/>
          <p:nvPr/>
        </p:nvSpPr>
        <p:spPr>
          <a:xfrm>
            <a:off x="1" y="856357"/>
            <a:ext cx="1224012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dirty="0">
                <a:solidFill>
                  <a:prstClr val="white"/>
                </a:solidFill>
                <a:latin typeface="Aptos" panose="02110004020202020204"/>
              </a:rPr>
              <a:t>4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-Test Cases</a:t>
            </a:r>
          </a:p>
          <a:p>
            <a:pPr lvl="0">
              <a:defRPr/>
            </a:pP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 the following test cases to test your function</a:t>
            </a:r>
          </a:p>
          <a:p>
            <a:pPr lvl="0">
              <a:defRPr/>
            </a:pPr>
            <a:endParaRPr lang="en-US" sz="2400" dirty="0">
              <a:solidFill>
                <a:prstClr val="white"/>
              </a:solidFill>
              <a:latin typeface="Aptos" panose="02110004020202020204"/>
            </a:endParaRPr>
          </a:p>
          <a:p>
            <a:pPr lvl="0">
              <a:defRPr/>
            </a:pPr>
            <a:r>
              <a:rPr lang="en-US" sz="2400" i="1" dirty="0">
                <a:solidFill>
                  <a:prstClr val="white"/>
                </a:solidFill>
              </a:rPr>
              <a:t>	</a:t>
            </a:r>
            <a:r>
              <a:rPr lang="en-US" sz="2400" i="1" dirty="0" err="1">
                <a:solidFill>
                  <a:prstClr val="white"/>
                </a:solidFill>
              </a:rPr>
              <a:t>animateFunction</a:t>
            </a:r>
            <a:r>
              <a:rPr lang="en-US" sz="2400" i="1" dirty="0">
                <a:solidFill>
                  <a:prstClr val="white"/>
                </a:solidFill>
              </a:rPr>
              <a:t>("2d", 300, "sin Curve", @(t) sin(t));</a:t>
            </a:r>
          </a:p>
          <a:p>
            <a:pPr lvl="0">
              <a:defRPr/>
            </a:pPr>
            <a:endParaRPr lang="en-US" sz="2400" dirty="0">
              <a:solidFill>
                <a:prstClr val="white"/>
              </a:solidFill>
            </a:endParaRPr>
          </a:p>
          <a:p>
            <a:pPr lvl="0">
              <a:defRPr/>
            </a:pPr>
            <a:r>
              <a:rPr kumimoji="0" lang="en-US" sz="240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</a:t>
            </a:r>
            <a:r>
              <a:rPr lang="fr-FR" sz="2400" i="1" dirty="0" err="1">
                <a:solidFill>
                  <a:prstClr val="white"/>
                </a:solidFill>
              </a:rPr>
              <a:t>animateFunction</a:t>
            </a:r>
            <a:r>
              <a:rPr lang="fr-FR" sz="2400" i="1" dirty="0">
                <a:solidFill>
                  <a:prstClr val="white"/>
                </a:solidFill>
              </a:rPr>
              <a:t>("2d", 300, « </a:t>
            </a:r>
            <a:r>
              <a:rPr lang="fr-FR" sz="2400" i="1" dirty="0" err="1">
                <a:solidFill>
                  <a:prstClr val="white"/>
                </a:solidFill>
              </a:rPr>
              <a:t>random</a:t>
            </a:r>
            <a:r>
              <a:rPr lang="fr-FR" sz="2400" i="1" dirty="0">
                <a:solidFill>
                  <a:prstClr val="white"/>
                </a:solidFill>
              </a:rPr>
              <a:t> </a:t>
            </a:r>
            <a:r>
              <a:rPr lang="fr-FR" sz="2400" i="1" dirty="0" err="1">
                <a:solidFill>
                  <a:prstClr val="white"/>
                </a:solidFill>
              </a:rPr>
              <a:t>Curve</a:t>
            </a:r>
            <a:r>
              <a:rPr lang="fr-FR" sz="2400" i="1" dirty="0">
                <a:solidFill>
                  <a:prstClr val="white"/>
                </a:solidFill>
              </a:rPr>
              <a:t>", @(t) t.^2, @(t) sin(t));</a:t>
            </a:r>
          </a:p>
          <a:p>
            <a:pPr lvl="0">
              <a:defRPr/>
            </a:pPr>
            <a:endParaRPr lang="fr-FR" sz="2400" dirty="0">
              <a:solidFill>
                <a:prstClr val="white"/>
              </a:solidFill>
            </a:endParaRPr>
          </a:p>
          <a:p>
            <a:pPr lvl="0">
              <a:defRPr/>
            </a:pPr>
            <a:r>
              <a:rPr lang="fr-FR" sz="2400" i="1" dirty="0">
                <a:solidFill>
                  <a:prstClr val="white"/>
                </a:solidFill>
              </a:rPr>
              <a:t>	</a:t>
            </a:r>
            <a:r>
              <a:rPr lang="fr-FR" sz="2400" i="1" dirty="0" err="1">
                <a:solidFill>
                  <a:prstClr val="white"/>
                </a:solidFill>
              </a:rPr>
              <a:t>animateFunction</a:t>
            </a:r>
            <a:r>
              <a:rPr lang="fr-FR" sz="2400" i="1" dirty="0">
                <a:solidFill>
                  <a:prstClr val="white"/>
                </a:solidFill>
              </a:rPr>
              <a:t>("3d", 100, "</a:t>
            </a:r>
            <a:r>
              <a:rPr lang="fr-FR" sz="2400" i="1" dirty="0" err="1">
                <a:solidFill>
                  <a:prstClr val="white"/>
                </a:solidFill>
              </a:rPr>
              <a:t>paraboloid</a:t>
            </a:r>
            <a:r>
              <a:rPr lang="fr-FR" sz="2400" i="1" dirty="0">
                <a:solidFill>
                  <a:prstClr val="white"/>
                </a:solidFill>
              </a:rPr>
              <a:t>", @(x,y) x.^2 + y.^2);</a:t>
            </a:r>
          </a:p>
          <a:p>
            <a:pPr lvl="0">
              <a:defRPr/>
            </a:pPr>
            <a:endParaRPr lang="fr-FR" sz="2400" dirty="0">
              <a:solidFill>
                <a:prstClr val="white"/>
              </a:solidFill>
            </a:endParaRPr>
          </a:p>
          <a:p>
            <a:pPr lvl="0">
              <a:defRPr/>
            </a:pPr>
            <a:r>
              <a:rPr kumimoji="0" lang="fr-FR" sz="24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970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1E474-BEC1-D686-FC5C-32339038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709224E7-DC9F-52B0-7643-14EACF5D71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40029C4-DA7C-2DA5-4E42-CD64C57E0E57}"/>
              </a:ext>
            </a:extLst>
          </p:cNvPr>
          <p:cNvSpPr/>
          <p:nvPr/>
        </p:nvSpPr>
        <p:spPr>
          <a:xfrm>
            <a:off x="1503801" y="2508250"/>
            <a:ext cx="9184398" cy="1841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600" dirty="0">
                <a:latin typeface="Arial Black" pitchFamily="34" charset="0"/>
              </a:rPr>
              <a:t>Thank you!</a:t>
            </a:r>
            <a:endParaRPr lang="ar-EG" sz="66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36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4042</TotalTime>
  <Words>631</Words>
  <Application>Microsoft Office PowerPoint</Application>
  <PresentationFormat>Widescreen</PresentationFormat>
  <Paragraphs>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Hazem Ahmed Khairy Ahmed Abd El Halim 2200398</dc:creator>
  <cp:lastModifiedBy>youssef ahmed abdelfatah 2101059</cp:lastModifiedBy>
  <cp:revision>46</cp:revision>
  <dcterms:created xsi:type="dcterms:W3CDTF">2025-11-15T13:40:51Z</dcterms:created>
  <dcterms:modified xsi:type="dcterms:W3CDTF">2026-06-19T19:48:44Z</dcterms:modified>
</cp:coreProperties>
</file>