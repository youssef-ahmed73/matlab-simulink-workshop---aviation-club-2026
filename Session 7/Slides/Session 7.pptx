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5" r:id="rId3"/>
    <p:sldId id="378" r:id="rId4"/>
    <p:sldId id="404" r:id="rId5"/>
    <p:sldId id="405" r:id="rId6"/>
    <p:sldId id="403" r:id="rId7"/>
    <p:sldId id="377" r:id="rId8"/>
    <p:sldId id="384" r:id="rId9"/>
    <p:sldId id="406" r:id="rId10"/>
    <p:sldId id="366" r:id="rId11"/>
    <p:sldId id="370" r:id="rId12"/>
    <p:sldId id="371" r:id="rId13"/>
    <p:sldId id="372" r:id="rId14"/>
    <p:sldId id="373" r:id="rId15"/>
    <p:sldId id="31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DD02-2584-1AAC-83C8-62D67E8B4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F3B68-7274-88AB-3F14-07D743D48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D2324-BD45-6AA3-CD5F-5E27A887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A4AD-D779-529A-819E-6D267D05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83CB4-F636-CC31-CD70-13BCE9A6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7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2046-C550-D253-445C-BA4B7C19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11EBC-5B39-8D4A-B01A-F0C0274B0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5CE9D-C450-8553-3E19-BC52CFB4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2A560-0F58-1E36-5242-EED74494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CFD4B-7965-9C58-EFE0-3813636F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31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012E7-0B7F-5753-0E1C-4C43BFEF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39B6C-E0C0-B19D-8FDA-FA2A3E4F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D4BF1-73A3-69AF-B669-9B352F7B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BF22C-C3DC-D44C-3CCE-8984BA68D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56D49-6066-C1C3-21AB-8F722B290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717-60AF-C232-A6B9-B5D77733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B95-1260-2D7D-2684-97ACCEE68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F21EE-6D6D-6B7E-0C5C-8BEEF1859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451CE-0D65-E4A1-5D0D-8CC39854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0E3C1-A303-F3C0-7586-DA3F1AE2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DAE34-4DD4-D015-4031-D412358C9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0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5DD7A-4260-78FC-3326-2A87FA752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8E180-D4DC-5BC0-D8B3-ED8F6774F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0D10E-437C-0060-D7F7-8C99542A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B32A8-E91F-39FA-413B-7FCCAD2C99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DF749-5CC8-46B2-9541-7BB9AF1C6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6BC06-DACC-26F6-E897-C57364288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9F1C2-1EA9-C40E-C9A2-FA15D0D4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7A6EE-FBCD-A0E4-F1AC-A9B9857C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81F7-1C72-ECA9-242A-81DC2F37A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E3F5E-3A4F-EF1F-ABFD-39F5D0E2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201FA7-33C3-86CB-374B-05C8ECC9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65599-FF8E-830E-6111-05BA00F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3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A4BEC-03DF-B331-F1B8-9E5B1354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ED20F9-60C1-6370-6A0A-627E924C1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60E87-38C1-64EB-2C05-596F2F23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4E93A-D9BA-E74E-FA97-3A96D363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4A949-81A7-7247-7DAC-C1B2C18DB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6E740-4624-EEA2-63A2-7A4FDA1E0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14C1D-84D3-1561-6248-6B520FCD1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0A0C4-369E-8396-6E32-4ED101A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8DFC-F4AD-0E71-F16A-6F16DDA4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F9BC-C033-0369-1DB3-45B2C025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400EE-DCCD-AAB0-CF8E-495231822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F69D4-C16D-DB1E-AC7F-5353318811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C061-B32E-666F-D3E2-DB0D8DF2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54E18-F6E3-C1ED-BFB7-470C6E181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76E64-82F4-8478-C80F-FBA592863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3ECE-FE5B-CCD2-555A-70E6B324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2C001-38C9-C6F9-BF11-F568C35BC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C23A-4235-A62D-D7F0-5636B8E2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FE783-41AE-D416-2BEB-5AF26E1EB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DEA82-009E-5447-81BE-9B09EA38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B1CB6-E746-A8DE-6138-08D3D6542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7824F-7DA5-71C6-74B5-E7F19D162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F5B94-8561-1659-8689-77B51FAE7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5DA070-2934-4614-8D9D-0458B30AE12B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1A2BE-81D2-69C1-933C-6985CB3C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DC380-2135-A757-178A-EA653834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926EE6-B959-4337-8657-99255661A6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0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63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red text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8A1CCC7E-6F70-0C85-F260-EEC3D4193F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653" y="101060"/>
            <a:ext cx="1913202" cy="11642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040BF-C392-052B-5990-6368B148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764" y="6276175"/>
            <a:ext cx="473540" cy="4735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F6409B-D42C-4D7E-A008-5B653A236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2808" y="6276175"/>
            <a:ext cx="473541" cy="4800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DBE55D-89D5-EB2E-8EEB-5AFCDE697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5286" y="6276175"/>
            <a:ext cx="473540" cy="473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3F3262-6093-07CC-62A6-960FBA04FA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382" y="1595137"/>
            <a:ext cx="5507023" cy="256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65961-57E3-E87B-F2F6-43B5D745DF75}"/>
              </a:ext>
            </a:extLst>
          </p:cNvPr>
          <p:cNvSpPr txBox="1"/>
          <p:nvPr/>
        </p:nvSpPr>
        <p:spPr>
          <a:xfrm>
            <a:off x="0" y="5229812"/>
            <a:ext cx="4404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MATLAB &amp; Simulink workshop</a:t>
            </a:r>
          </a:p>
          <a:p>
            <a:endParaRPr lang="en-US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Black" panose="020B0A04020102020204" pitchFamily="34" charset="0"/>
              </a:rPr>
              <a:t>Made by: Youssef Ahmed</a:t>
            </a:r>
          </a:p>
        </p:txBody>
      </p:sp>
    </p:spTree>
    <p:extLst>
      <p:ext uri="{BB962C8B-B14F-4D97-AF65-F5344CB8AC3E}">
        <p14:creationId xmlns:p14="http://schemas.microsoft.com/office/powerpoint/2010/main" val="50246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DC94-B74C-B268-FAF7-CE9E1C43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CE80423-3437-84C2-6E7A-321813DDF0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6A28A4A-CE04-9DCD-38F7-93EEBE4F5EF9}"/>
              </a:ext>
            </a:extLst>
          </p:cNvPr>
          <p:cNvSpPr/>
          <p:nvPr/>
        </p:nvSpPr>
        <p:spPr>
          <a:xfrm>
            <a:off x="1503800" y="2315447"/>
            <a:ext cx="9184398" cy="1841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6600" dirty="0">
                <a:latin typeface="Arial Black" pitchFamily="34" charset="0"/>
              </a:rPr>
              <a:t>Modeling with Simulink</a:t>
            </a:r>
            <a:endParaRPr lang="ar-EG" sz="6600" dirty="0">
              <a:latin typeface="Arial Black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73A78-ED01-9591-9EC9-6786E75E0D9F}"/>
              </a:ext>
            </a:extLst>
          </p:cNvPr>
          <p:cNvSpPr txBox="1"/>
          <p:nvPr/>
        </p:nvSpPr>
        <p:spPr>
          <a:xfrm>
            <a:off x="3765106" y="0"/>
            <a:ext cx="4645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Session 7</a:t>
            </a:r>
          </a:p>
        </p:txBody>
      </p:sp>
    </p:spTree>
    <p:extLst>
      <p:ext uri="{BB962C8B-B14F-4D97-AF65-F5344CB8AC3E}">
        <p14:creationId xmlns:p14="http://schemas.microsoft.com/office/powerpoint/2010/main" val="14293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22302-5FFA-752D-D15A-44F2F06F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E9BEF2D8-8A81-6189-2944-388146991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35D0656A-D9EC-6E0B-930A-CF52EF5581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pic>
        <p:nvPicPr>
          <p:cNvPr id="9" name="Picture 8" descr="A purple and white rectangle with blue text&#10;&#10;AI-generated content may be incorrect.">
            <a:extLst>
              <a:ext uri="{FF2B5EF4-FFF2-40B4-BE49-F238E27FC236}">
                <a16:creationId xmlns:a16="http://schemas.microsoft.com/office/drawing/2014/main" id="{68E512D6-6276-4388-EDAA-F0892353F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1" t="7797" r="13367" b="8540"/>
          <a:stretch>
            <a:fillRect/>
          </a:stretch>
        </p:blipFill>
        <p:spPr>
          <a:xfrm>
            <a:off x="3185326" y="1656863"/>
            <a:ext cx="5805303" cy="3980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E228EB-9688-37C1-4194-7887ACB5C0BA}"/>
              </a:ext>
            </a:extLst>
          </p:cNvPr>
          <p:cNvSpPr txBox="1"/>
          <p:nvPr/>
        </p:nvSpPr>
        <p:spPr>
          <a:xfrm>
            <a:off x="1651495" y="199417"/>
            <a:ext cx="8889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FF0000"/>
                </a:solidFill>
              </a:rPr>
              <a:t>Last session recap</a:t>
            </a:r>
          </a:p>
        </p:txBody>
      </p:sp>
    </p:spTree>
    <p:extLst>
      <p:ext uri="{BB962C8B-B14F-4D97-AF65-F5344CB8AC3E}">
        <p14:creationId xmlns:p14="http://schemas.microsoft.com/office/powerpoint/2010/main" val="151364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6F5A-3E64-9816-AC77-9028117B3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00A342A-2BCE-24E9-90C3-2E2E12DD8D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4F7771-1CE0-20C0-FE85-008C29B7959A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Modeling With 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74C4F-6D35-EBA9-8144-E28425FD2F7B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Differential equations are the language of the universe!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02D643-E2B1-F835-6424-17A7DE08A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586" y="1508100"/>
            <a:ext cx="6816828" cy="45419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05929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5A76-8D57-A702-9F43-2A3EB40DD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410D0B6A-B92D-5306-7DF5-8CC16385B4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C1F719-6BDC-D4A6-5AB2-918A9A78BB97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Modeling With Simulink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2FAFBA-632C-D118-E8B5-579E2F6242A8}"/>
              </a:ext>
            </a:extLst>
          </p:cNvPr>
          <p:cNvSpPr txBox="1"/>
          <p:nvPr/>
        </p:nvSpPr>
        <p:spPr>
          <a:xfrm>
            <a:off x="0" y="961588"/>
            <a:ext cx="11651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Differential equations are not the only way!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3BF20-B69F-21D5-D32E-BF573FB5D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46" b="37534"/>
          <a:stretch>
            <a:fillRect/>
          </a:stretch>
        </p:blipFill>
        <p:spPr>
          <a:xfrm>
            <a:off x="158847" y="2921977"/>
            <a:ext cx="5881208" cy="14099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B198A1-56AD-4408-146A-1FF6F72148C3}"/>
              </a:ext>
            </a:extLst>
          </p:cNvPr>
          <p:cNvSpPr txBox="1"/>
          <p:nvPr/>
        </p:nvSpPr>
        <p:spPr>
          <a:xfrm>
            <a:off x="1499251" y="1941305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Transfer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3BC72E-35FE-22F8-23C4-F16CD01FAB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60" b="32378"/>
          <a:stretch>
            <a:fillRect/>
          </a:stretch>
        </p:blipFill>
        <p:spPr>
          <a:xfrm>
            <a:off x="6636158" y="2921023"/>
            <a:ext cx="5015068" cy="23407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EB738F-65A2-E43B-FFE4-8B6A88CECB2B}"/>
              </a:ext>
            </a:extLst>
          </p:cNvPr>
          <p:cNvSpPr txBox="1"/>
          <p:nvPr/>
        </p:nvSpPr>
        <p:spPr>
          <a:xfrm>
            <a:off x="7543492" y="1695084"/>
            <a:ext cx="320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State-space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78080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21F56-30F4-3D70-25A0-21E6B28D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9973868D-2997-DAD6-295B-B8AAFC0920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FAC775-C416-8C69-04E2-CCD9FA264EFA}"/>
              </a:ext>
            </a:extLst>
          </p:cNvPr>
          <p:cNvSpPr txBox="1"/>
          <p:nvPr/>
        </p:nvSpPr>
        <p:spPr>
          <a:xfrm>
            <a:off x="2504153" y="130591"/>
            <a:ext cx="7183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Modeling With 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3FFA5-8B3D-9332-7B75-0D8C84B24703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Modeling of 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887CE-B532-C68F-6F84-62459059A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6836" y="1502667"/>
            <a:ext cx="5858326" cy="43937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FB439E9-D4A1-3043-31C6-94086C14719B}"/>
              </a:ext>
            </a:extLst>
          </p:cNvPr>
          <p:cNvSpPr/>
          <p:nvPr/>
        </p:nvSpPr>
        <p:spPr>
          <a:xfrm>
            <a:off x="4188542" y="3126658"/>
            <a:ext cx="1907458" cy="30234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79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E416-6EBD-B87A-2A35-82488134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020CD5CB-BB1C-00A1-E842-2D35BD6A7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DDBCE71-14F3-247E-18CF-784640C4B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1851D-5980-2970-CA2A-200448FD1C4C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2D7EBF35-E9C1-2977-E10D-0CCBBB471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56C35-0504-E661-1C50-5941CA1907AB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461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93A9E-A1B8-5370-325D-3FA6BC424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BACDBBF7-90FC-AD3D-3560-38E7407794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2CC9DD-EEAE-AA07-9675-129238105BD9}"/>
              </a:ext>
            </a:extLst>
          </p:cNvPr>
          <p:cNvSpPr txBox="1"/>
          <p:nvPr/>
        </p:nvSpPr>
        <p:spPr>
          <a:xfrm>
            <a:off x="3081183" y="130591"/>
            <a:ext cx="6029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Simulink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50FEF5-985D-A08B-807F-1A1EBB10D991}"/>
              </a:ext>
            </a:extLst>
          </p:cNvPr>
          <p:cNvSpPr txBox="1"/>
          <p:nvPr/>
        </p:nvSpPr>
        <p:spPr>
          <a:xfrm>
            <a:off x="2562823" y="961588"/>
            <a:ext cx="70663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Simulink &amp; MATLAB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B5299-9971-1819-AD2F-4EBA67827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47" y="2277517"/>
            <a:ext cx="2627671" cy="2627671"/>
          </a:xfrm>
          <a:prstGeom prst="rect">
            <a:avLst/>
          </a:prstGeom>
        </p:spPr>
      </p:pic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50F47689-78A4-DE40-9BA4-BB5A97982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7447713" y="2299085"/>
            <a:ext cx="3326207" cy="26093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3F5DFD-8CAE-9D62-83BF-180E99E32915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4395018" y="3591353"/>
            <a:ext cx="3052695" cy="12410"/>
          </a:xfrm>
          <a:prstGeom prst="straightConnector1">
            <a:avLst/>
          </a:prstGeom>
          <a:ln w="146050">
            <a:solidFill>
              <a:schemeClr val="bg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46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E416-6EBD-B87A-2A35-824881341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creenshot, darkness, space, blur">
            <a:extLst>
              <a:ext uri="{FF2B5EF4-FFF2-40B4-BE49-F238E27FC236}">
                <a16:creationId xmlns:a16="http://schemas.microsoft.com/office/drawing/2014/main" id="{020CD5CB-BB1C-00A1-E842-2D35BD6A79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4169" y="-64168"/>
            <a:ext cx="12304295" cy="6978316"/>
          </a:xfrm>
          <a:prstGeom prst="rect">
            <a:avLst/>
          </a:prstGeom>
        </p:spPr>
      </p:pic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ADDBCE71-14F3-247E-18CF-784640C4B7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81851D-5980-2970-CA2A-200448FD1C4C}"/>
              </a:ext>
            </a:extLst>
          </p:cNvPr>
          <p:cNvSpPr txBox="1"/>
          <p:nvPr/>
        </p:nvSpPr>
        <p:spPr>
          <a:xfrm>
            <a:off x="3773127" y="130591"/>
            <a:ext cx="4645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MATLAB time! </a:t>
            </a:r>
          </a:p>
        </p:txBody>
      </p:sp>
      <p:pic>
        <p:nvPicPr>
          <p:cNvPr id="9" name="Picture 8" descr="A colorful curved object with a black background&#10;&#10;AI-generated content may be incorrect.">
            <a:extLst>
              <a:ext uri="{FF2B5EF4-FFF2-40B4-BE49-F238E27FC236}">
                <a16:creationId xmlns:a16="http://schemas.microsoft.com/office/drawing/2014/main" id="{2D7EBF35-E9C1-2977-E10D-0CCBBB471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55" r="12955" b="2111"/>
          <a:stretch>
            <a:fillRect/>
          </a:stretch>
        </p:blipFill>
        <p:spPr>
          <a:xfrm>
            <a:off x="3478782" y="1631475"/>
            <a:ext cx="5234434" cy="41063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356C35-0504-E661-1C50-5941CA1907AB}"/>
              </a:ext>
            </a:extLst>
          </p:cNvPr>
          <p:cNvSpPr txBox="1"/>
          <p:nvPr/>
        </p:nvSpPr>
        <p:spPr>
          <a:xfrm>
            <a:off x="2027579" y="715366"/>
            <a:ext cx="8136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Now let’s see what we covered so far in MATLAB</a:t>
            </a:r>
          </a:p>
        </p:txBody>
      </p:sp>
    </p:spTree>
    <p:extLst>
      <p:ext uri="{BB962C8B-B14F-4D97-AF65-F5344CB8AC3E}">
        <p14:creationId xmlns:p14="http://schemas.microsoft.com/office/powerpoint/2010/main" val="3134581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7035A-1DC6-5EAA-ABEA-9496AF82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967ED50-D307-586E-F98B-5BCA2A6608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4E1E64-3D36-1FCF-7841-679C1B8A72C8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522B6B-3674-1F94-2EFA-C284FEC56E84}"/>
              </a:ext>
            </a:extLst>
          </p:cNvPr>
          <p:cNvSpPr txBox="1"/>
          <p:nvPr/>
        </p:nvSpPr>
        <p:spPr>
          <a:xfrm>
            <a:off x="0" y="1451315"/>
            <a:ext cx="64302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1-Overview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 are required to model a pendulum system with air resistance then compute the energy of the system, then calculate the time it takes for the pendulum to lose 90% of its energy.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1080DE1-C8DD-26EB-B963-98A49FC016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40"/>
          <a:stretch>
            <a:fillRect/>
          </a:stretch>
        </p:blipFill>
        <p:spPr>
          <a:xfrm>
            <a:off x="6430299" y="961588"/>
            <a:ext cx="5388999" cy="49664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01525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4A9B1-3845-D8C0-7F77-78A41688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17F4E886-5B81-A649-C1E6-8F06FABF79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C0C076-BFA4-263F-64F2-F13E188B956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1A93E3-2D85-C4E9-E8AE-F88CC5B74AFA}"/>
                  </a:ext>
                </a:extLst>
              </p:cNvPr>
              <p:cNvSpPr txBox="1"/>
              <p:nvPr/>
            </p:nvSpPr>
            <p:spPr>
              <a:xfrm>
                <a:off x="-1" y="539330"/>
                <a:ext cx="12192000" cy="6390917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2-Pendelum model</a:t>
                </a:r>
              </a:p>
              <a:p>
                <a:pPr/>
                <a:r>
                  <a:rPr lang="en-US" sz="2800" dirty="0">
                    <a:solidFill>
                      <a:schemeClr val="bg1"/>
                    </a:solidFill>
                  </a:rPr>
                  <a:t>The system can be modeled with the following differential equation:</a:t>
                </a:r>
                <a:br>
                  <a:rPr lang="en-US" sz="2800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̈"/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d>
                        <m:dPr>
                          <m:begChr m:val="|"/>
                          <m:endChr m:val="|"/>
                          <m:ctrlPr>
                            <a:rPr lang="en-US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𝑀𝑔𝐿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Where:</a:t>
                </a:r>
                <a:br>
                  <a:rPr lang="en-US" sz="2800" dirty="0">
                    <a:solidFill>
                      <a:schemeClr val="bg1"/>
                    </a:solidFill>
                  </a:rPr>
                </a:br>
                <a:r>
                  <a:rPr lang="en-US" sz="2800" dirty="0">
                    <a:solidFill>
                      <a:schemeClr val="bg1"/>
                    </a:solidFill>
                  </a:rPr>
                  <a:t>M: mass of the sphere   		 = 0.5 Kg</a:t>
                </a: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L: length of the wire         		 = 1 m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: density of air                  		 = 1.225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: drag (damping coefficient) = 0.47</a:t>
                </a: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A: area of the sphere 		 = 0.00785</a:t>
                </a:r>
              </a:p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: gravity constant 		 = 9.81</a:t>
                </a:r>
              </a:p>
              <a:p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angle of the pendulum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1A93E3-2D85-C4E9-E8AE-F88CC5B74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539330"/>
                <a:ext cx="12192000" cy="6390917"/>
              </a:xfrm>
              <a:prstGeom prst="rect">
                <a:avLst/>
              </a:prstGeom>
              <a:blipFill>
                <a:blip r:embed="rId3"/>
                <a:stretch>
                  <a:fillRect l="-1000" t="-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0570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7E541-C3FA-CD7C-6E2C-548686F6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CFFC2DDA-2376-16D7-6169-5A4A45408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0BC516-1A21-8607-90E7-528AE5A6BEE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2DAFE9-39D5-C64F-72CA-511C916CB5AD}"/>
                  </a:ext>
                </a:extLst>
              </p:cNvPr>
              <p:cNvSpPr txBox="1"/>
              <p:nvPr/>
            </p:nvSpPr>
            <p:spPr>
              <a:xfrm>
                <a:off x="-1" y="884076"/>
                <a:ext cx="12192000" cy="4346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chemeClr val="bg1"/>
                    </a:solidFill>
                  </a:rPr>
                  <a:t>3-Energy calculation</a:t>
                </a: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After modeling the system, you are required to use the signals  from the model to use it to calculate the energy of the system.</a:t>
                </a:r>
              </a:p>
              <a:p>
                <a:pPr/>
                <a:r>
                  <a:rPr lang="en-US" sz="2800" dirty="0">
                    <a:solidFill>
                      <a:schemeClr val="bg1"/>
                    </a:solidFill>
                  </a:rPr>
                  <a:t>The energy of the system can be calculated by the sum of kinetic energy and potential energy given by the flowing equations</a:t>
                </a:r>
                <a:br>
                  <a:rPr lang="en-US" sz="2800" dirty="0">
                    <a:solidFill>
                      <a:schemeClr val="bg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𝑀𝑔𝐿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8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  <a:p>
                <a:r>
                  <a:rPr lang="en-US" sz="2800" dirty="0">
                    <a:solidFill>
                      <a:schemeClr val="bg1"/>
                    </a:solidFill>
                  </a:rPr>
                  <a:t>Notice that you are free to choose if you want to calculate it in Simulink or MATLAB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32DAFE9-39D5-C64F-72CA-511C916CB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884076"/>
                <a:ext cx="12192000" cy="4346062"/>
              </a:xfrm>
              <a:prstGeom prst="rect">
                <a:avLst/>
              </a:prstGeom>
              <a:blipFill>
                <a:blip r:embed="rId3"/>
                <a:stretch>
                  <a:fillRect l="-1000" t="-1403" r="-400" b="-2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998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65D2-1CA2-CA43-0342-99216DED2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0CA9507A-80B1-3E24-1E2F-DCEBDDD0F4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DCB41-2608-4D43-4F61-6AA91C43406B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196C78-B5CA-A2D3-5119-17AA0854281C}"/>
              </a:ext>
            </a:extLst>
          </p:cNvPr>
          <p:cNvSpPr txBox="1"/>
          <p:nvPr/>
        </p:nvSpPr>
        <p:spPr>
          <a:xfrm>
            <a:off x="-1" y="884076"/>
            <a:ext cx="59537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4-Postprocessing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next step is to export relevant data to MATLAB workspace to calculate the time required for the system to lose 90% of its energy, then store it as a variable called “</a:t>
            </a:r>
            <a:r>
              <a:rPr lang="en-US" sz="2800" dirty="0" err="1">
                <a:solidFill>
                  <a:schemeClr val="bg1"/>
                </a:solidFill>
              </a:rPr>
              <a:t>decayTime</a:t>
            </a:r>
            <a:r>
              <a:rPr lang="en-US" sz="2800" dirty="0">
                <a:solidFill>
                  <a:schemeClr val="bg1"/>
                </a:solidFill>
              </a:rPr>
              <a:t>”</a:t>
            </a:r>
          </a:p>
          <a:p>
            <a:r>
              <a:rPr lang="en-US" sz="2800" dirty="0">
                <a:solidFill>
                  <a:schemeClr val="bg1"/>
                </a:solidFill>
              </a:rPr>
              <a:t>Another required step is to plot the energy graph in MATLAB with the part below 90% energy with different as shown in example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9DC945-B810-7CBF-A19C-84B8DB33A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74" y="1275736"/>
            <a:ext cx="5742038" cy="430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6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0677-B1A2-76ED-3B51-0A94FE25B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CB34732E-7AD2-6FE5-2916-FAC71F73B6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985" y="6050010"/>
            <a:ext cx="1452029" cy="677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1980C7-FF2F-C853-AC01-0A463B66F1C6}"/>
              </a:ext>
            </a:extLst>
          </p:cNvPr>
          <p:cNvSpPr txBox="1"/>
          <p:nvPr/>
        </p:nvSpPr>
        <p:spPr>
          <a:xfrm>
            <a:off x="3773127" y="130591"/>
            <a:ext cx="4645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47C50-5490-43E6-E26C-D851D3785236}"/>
              </a:ext>
            </a:extLst>
          </p:cNvPr>
          <p:cNvSpPr txBox="1"/>
          <p:nvPr/>
        </p:nvSpPr>
        <p:spPr>
          <a:xfrm>
            <a:off x="-1" y="884076"/>
            <a:ext cx="12192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5-Deliverables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You are required to submit the following: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Screenshot of the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The MATLAB script (.m or .mlx file) used for parameters definition and post 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Screenshot of the post processing plot (mentioned in step 4)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The Simulink model (.</a:t>
            </a:r>
            <a:r>
              <a:rPr lang="en-US" sz="2800" dirty="0" err="1">
                <a:solidFill>
                  <a:schemeClr val="bg1"/>
                </a:solidFill>
              </a:rPr>
              <a:t>slx</a:t>
            </a:r>
            <a:r>
              <a:rPr lang="en-US" sz="2800" dirty="0">
                <a:solidFill>
                  <a:schemeClr val="bg1"/>
                </a:solidFill>
              </a:rPr>
              <a:t> file)</a:t>
            </a:r>
          </a:p>
        </p:txBody>
      </p:sp>
    </p:spTree>
    <p:extLst>
      <p:ext uri="{BB962C8B-B14F-4D97-AF65-F5344CB8AC3E}">
        <p14:creationId xmlns:p14="http://schemas.microsoft.com/office/powerpoint/2010/main" val="146464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1E474-BEC1-D686-FC5C-32339038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029C4-DA7C-2DA5-4E42-CD64C57E0E57}"/>
              </a:ext>
            </a:extLst>
          </p:cNvPr>
          <p:cNvSpPr/>
          <p:nvPr/>
        </p:nvSpPr>
        <p:spPr>
          <a:xfrm>
            <a:off x="1145136" y="1028700"/>
            <a:ext cx="9947305" cy="10906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 descr="A logo with a star and wings&#10;&#10;Description automatically generated with low confidence">
            <a:extLst>
              <a:ext uri="{FF2B5EF4-FFF2-40B4-BE49-F238E27FC236}">
                <a16:creationId xmlns:a16="http://schemas.microsoft.com/office/drawing/2014/main" id="{709224E7-DC9F-52B0-7643-14EACF5D71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840" t="-9893" r="-8840" b="12"/>
          <a:stretch>
            <a:fillRect/>
          </a:stretch>
        </p:blipFill>
        <p:spPr>
          <a:xfrm>
            <a:off x="1671466" y="2792088"/>
            <a:ext cx="8849063" cy="3859009"/>
          </a:xfrm>
          <a:custGeom>
            <a:avLst/>
            <a:gdLst/>
            <a:ahLst/>
            <a:cxnLst/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2436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4593</TotalTime>
  <Words>429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 Ahmed Khairy Ahmed Abd El Halim 2200398</dc:creator>
  <cp:lastModifiedBy>youssef ahmed abdelfatah 2101059</cp:lastModifiedBy>
  <cp:revision>54</cp:revision>
  <dcterms:created xsi:type="dcterms:W3CDTF">2025-11-15T13:40:51Z</dcterms:created>
  <dcterms:modified xsi:type="dcterms:W3CDTF">2026-06-19T19:53:20Z</dcterms:modified>
</cp:coreProperties>
</file>