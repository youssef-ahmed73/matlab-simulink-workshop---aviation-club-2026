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45" r:id="rId3"/>
    <p:sldId id="378" r:id="rId4"/>
    <p:sldId id="379" r:id="rId5"/>
    <p:sldId id="384" r:id="rId6"/>
    <p:sldId id="385" r:id="rId7"/>
    <p:sldId id="386" r:id="rId8"/>
    <p:sldId id="387" r:id="rId9"/>
    <p:sldId id="388" r:id="rId10"/>
    <p:sldId id="389" r:id="rId11"/>
    <p:sldId id="380" r:id="rId12"/>
    <p:sldId id="364" r:id="rId13"/>
    <p:sldId id="391" r:id="rId14"/>
    <p:sldId id="392" r:id="rId15"/>
    <p:sldId id="393" r:id="rId16"/>
    <p:sldId id="394" r:id="rId17"/>
    <p:sldId id="395" r:id="rId18"/>
    <p:sldId id="353" r:id="rId19"/>
    <p:sldId id="366" r:id="rId20"/>
    <p:sldId id="370" r:id="rId21"/>
    <p:sldId id="371" r:id="rId22"/>
    <p:sldId id="372" r:id="rId23"/>
    <p:sldId id="373" r:id="rId24"/>
    <p:sldId id="374" r:id="rId25"/>
    <p:sldId id="31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3DD02-2584-1AAC-83C8-62D67E8B49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DF3B68-7274-88AB-3F14-07D743D48C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D2324-BD45-6AA3-CD5F-5E27A887FDAC}"/>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F9DDA4AD-D779-529A-819E-6D267D055B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83CB4-F636-CC31-CD70-13BCE9A68975}"/>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277367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2046-C550-D253-445C-BA4B7C1956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D11EBC-5B39-8D4A-B01A-F0C0274B02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5CE9D-C450-8553-3E19-BC52CFB46C04}"/>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2672A560-0F58-1E36-5242-EED7449446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7CFD4B-7965-9C58-EFE0-3813636F0818}"/>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3583316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12E7-0B7F-5753-0E1C-4C43BFEF90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339B6C-E0C0-B19D-8FDA-FA2A3E4F31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ED4BF1-73A3-69AF-B669-9B352F7B63F5}"/>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141BF22C-C3DC-D44C-3CCE-8984BA68D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56D49-6066-C1C3-21AB-8F722B290D3C}"/>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2784183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73717-60AF-C232-A6B9-B5D777335F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2B6B95-1260-2D7D-2684-97ACCEE681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AF21EE-6D6D-6B7E-0C5C-8BEEF1859E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2451CE-0D65-E4A1-5D0D-8CC39854B88D}"/>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6" name="Footer Placeholder 5">
            <a:extLst>
              <a:ext uri="{FF2B5EF4-FFF2-40B4-BE49-F238E27FC236}">
                <a16:creationId xmlns:a16="http://schemas.microsoft.com/office/drawing/2014/main" id="{0B70E3C1-A303-F3C0-7586-DA3F1AE27A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DAE34-4DD4-D015-4031-D412358C934A}"/>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4156307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5DD7A-4260-78FC-3326-2A87FA752F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C8E180-D4DC-5BC0-D8B3-ED8F6774F0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60D10E-437C-0060-D7F7-8C99542A8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DB32A8-E91F-39FA-413B-7FCCAD2C9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8DF749-5CC8-46B2-9541-7BB9AF1C6A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36BC06-DACC-26F6-E897-C57364288B8B}"/>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8" name="Footer Placeholder 7">
            <a:extLst>
              <a:ext uri="{FF2B5EF4-FFF2-40B4-BE49-F238E27FC236}">
                <a16:creationId xmlns:a16="http://schemas.microsoft.com/office/drawing/2014/main" id="{01D9F1C2-1EA9-C40E-C9A2-FA15D0D4E5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7A6EE-FBCD-A0E4-F1AC-A9B9857C0B97}"/>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875555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081F7-1C72-ECA9-242A-81DC2F37AF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BE3F5E-3A4F-EF1F-ABFD-39F5D0E2A183}"/>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4" name="Footer Placeholder 3">
            <a:extLst>
              <a:ext uri="{FF2B5EF4-FFF2-40B4-BE49-F238E27FC236}">
                <a16:creationId xmlns:a16="http://schemas.microsoft.com/office/drawing/2014/main" id="{37201FA7-33C3-86CB-374B-05C8ECC95D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865599-FF8E-830E-6111-05BA00FBDF72}"/>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95433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CA4BEC-03DF-B331-F1B8-9E5B1354158B}"/>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3" name="Footer Placeholder 2">
            <a:extLst>
              <a:ext uri="{FF2B5EF4-FFF2-40B4-BE49-F238E27FC236}">
                <a16:creationId xmlns:a16="http://schemas.microsoft.com/office/drawing/2014/main" id="{74ED20F9-60C1-6370-6A0A-627E924C18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660E87-38C1-64EB-2C05-596F2F237AD5}"/>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221672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E93A-D9BA-E74E-FA97-3A96D3634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44A949-81A7-7247-7DAC-C1B2C18DB1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76E740-4624-EEA2-63A2-7A4FDA1E0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A14C1D-84D3-1561-6248-6B520FCD126C}"/>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6" name="Footer Placeholder 5">
            <a:extLst>
              <a:ext uri="{FF2B5EF4-FFF2-40B4-BE49-F238E27FC236}">
                <a16:creationId xmlns:a16="http://schemas.microsoft.com/office/drawing/2014/main" id="{D260A0C4-369E-8396-6E32-4ED101AE4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908DFC-F4AD-0E71-F16A-6F16DDA42329}"/>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541054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F9BC-C033-0369-1DB3-45B2C0259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5400EE-DCCD-AAB0-CF8E-495231822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BF69D4-C16D-DB1E-AC7F-535331881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13C061-B32E-666F-D3E2-DB0D8DF25E6C}"/>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6" name="Footer Placeholder 5">
            <a:extLst>
              <a:ext uri="{FF2B5EF4-FFF2-40B4-BE49-F238E27FC236}">
                <a16:creationId xmlns:a16="http://schemas.microsoft.com/office/drawing/2014/main" id="{B6A54E18-F6E3-C1ED-BFB7-470C6E181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076E64-82F4-8478-C80F-FBA592863E12}"/>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686341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D3ECE-FE5B-CCD2-555A-70E6B3241F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62C001-38C9-C6F9-BF11-F568C35BC0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7C23A-4235-A62D-D7F0-5636B8E22053}"/>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21FFE783-41AE-D416-2BEB-5AF26E1EB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DEA82-009E-5447-81BE-9B09EA3807E4}"/>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1180749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BB1CB6-E746-A8DE-6138-08D3D6542F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D7824F-7DA5-71C6-74B5-E7F19D162E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EF5B94-8561-1659-8689-77B51FAE7B5E}"/>
              </a:ext>
            </a:extLst>
          </p:cNvPr>
          <p:cNvSpPr>
            <a:spLocks noGrp="1"/>
          </p:cNvSpPr>
          <p:nvPr>
            <p:ph type="dt" sz="half" idx="10"/>
          </p:nvPr>
        </p:nvSpPr>
        <p:spPr/>
        <p:txBody>
          <a:body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43E1A2BE-81D2-69C1-933C-6985CB3C6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DC380-2135-A757-178A-EA6538348EE5}"/>
              </a:ext>
            </a:extLst>
          </p:cNvPr>
          <p:cNvSpPr>
            <a:spLocks noGrp="1"/>
          </p:cNvSpPr>
          <p:nvPr>
            <p:ph type="sldNum" sz="quarter" idx="12"/>
          </p:nvPr>
        </p:nvSpPr>
        <p:spPr/>
        <p:txBody>
          <a:bodyPr/>
          <a:lstStyle/>
          <a:p>
            <a:fld id="{63926EE6-B959-4337-8657-99255661A6A9}" type="slidenum">
              <a:rPr lang="en-US" smtClean="0"/>
              <a:t>‹#›</a:t>
            </a:fld>
            <a:endParaRPr lang="en-US"/>
          </a:p>
        </p:txBody>
      </p:sp>
    </p:spTree>
    <p:extLst>
      <p:ext uri="{BB962C8B-B14F-4D97-AF65-F5344CB8AC3E}">
        <p14:creationId xmlns:p14="http://schemas.microsoft.com/office/powerpoint/2010/main" val="4189110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BAC917-FA00-FB8C-C9F4-96268EB801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887D31-0502-C954-F666-06C686893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F96DD-05A3-BB8C-578B-5563456C9D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5DA070-2934-4614-8D9D-0458B30AE12B}" type="datetimeFigureOut">
              <a:rPr lang="en-US" smtClean="0"/>
              <a:t>6/19/2026</a:t>
            </a:fld>
            <a:endParaRPr lang="en-US"/>
          </a:p>
        </p:txBody>
      </p:sp>
      <p:sp>
        <p:nvSpPr>
          <p:cNvPr id="5" name="Footer Placeholder 4">
            <a:extLst>
              <a:ext uri="{FF2B5EF4-FFF2-40B4-BE49-F238E27FC236}">
                <a16:creationId xmlns:a16="http://schemas.microsoft.com/office/drawing/2014/main" id="{9584669E-A2AE-53D6-A2AE-DCC64113F7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8B2286-10BB-9DB6-0BE9-80BDBF395A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926EE6-B959-4337-8657-99255661A6A9}" type="slidenum">
              <a:rPr lang="en-US" smtClean="0"/>
              <a:t>‹#›</a:t>
            </a:fld>
            <a:endParaRPr lang="en-US"/>
          </a:p>
        </p:txBody>
      </p:sp>
    </p:spTree>
    <p:extLst>
      <p:ext uri="{BB962C8B-B14F-4D97-AF65-F5344CB8AC3E}">
        <p14:creationId xmlns:p14="http://schemas.microsoft.com/office/powerpoint/2010/main" val="2784630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red text on a black background&#10;&#10;Description automatically generated with medium confidence">
            <a:extLst>
              <a:ext uri="{FF2B5EF4-FFF2-40B4-BE49-F238E27FC236}">
                <a16:creationId xmlns:a16="http://schemas.microsoft.com/office/drawing/2014/main" id="{8A1CCC7E-6F70-0C85-F260-EEC3D4193F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4653" y="101060"/>
            <a:ext cx="1913202" cy="1164224"/>
          </a:xfrm>
          <a:prstGeom prst="rect">
            <a:avLst/>
          </a:prstGeom>
        </p:spPr>
      </p:pic>
      <p:pic>
        <p:nvPicPr>
          <p:cNvPr id="8" name="Picture 7">
            <a:extLst>
              <a:ext uri="{FF2B5EF4-FFF2-40B4-BE49-F238E27FC236}">
                <a16:creationId xmlns:a16="http://schemas.microsoft.com/office/drawing/2014/main" id="{96E040BF-C392-052B-5990-6368B148E871}"/>
              </a:ext>
            </a:extLst>
          </p:cNvPr>
          <p:cNvPicPr>
            <a:picLocks noChangeAspect="1"/>
          </p:cNvPicPr>
          <p:nvPr/>
        </p:nvPicPr>
        <p:blipFill>
          <a:blip r:embed="rId3"/>
          <a:stretch>
            <a:fillRect/>
          </a:stretch>
        </p:blipFill>
        <p:spPr>
          <a:xfrm>
            <a:off x="1887764" y="6276175"/>
            <a:ext cx="473540" cy="473540"/>
          </a:xfrm>
          <a:prstGeom prst="rect">
            <a:avLst/>
          </a:prstGeom>
        </p:spPr>
      </p:pic>
      <p:pic>
        <p:nvPicPr>
          <p:cNvPr id="12" name="Picture 11">
            <a:extLst>
              <a:ext uri="{FF2B5EF4-FFF2-40B4-BE49-F238E27FC236}">
                <a16:creationId xmlns:a16="http://schemas.microsoft.com/office/drawing/2014/main" id="{82F6409B-D42C-4D7E-A008-5B653A2362C5}"/>
              </a:ext>
            </a:extLst>
          </p:cNvPr>
          <p:cNvPicPr>
            <a:picLocks noChangeAspect="1"/>
          </p:cNvPicPr>
          <p:nvPr/>
        </p:nvPicPr>
        <p:blipFill>
          <a:blip r:embed="rId4"/>
          <a:stretch>
            <a:fillRect/>
          </a:stretch>
        </p:blipFill>
        <p:spPr>
          <a:xfrm>
            <a:off x="3162808" y="6276175"/>
            <a:ext cx="473541" cy="480028"/>
          </a:xfrm>
          <a:prstGeom prst="rect">
            <a:avLst/>
          </a:prstGeom>
        </p:spPr>
      </p:pic>
      <p:pic>
        <p:nvPicPr>
          <p:cNvPr id="2" name="Picture 1">
            <a:extLst>
              <a:ext uri="{FF2B5EF4-FFF2-40B4-BE49-F238E27FC236}">
                <a16:creationId xmlns:a16="http://schemas.microsoft.com/office/drawing/2014/main" id="{D2DBE55D-89D5-EB2E-8EEB-5AFCDE69776B}"/>
              </a:ext>
            </a:extLst>
          </p:cNvPr>
          <p:cNvPicPr>
            <a:picLocks noChangeAspect="1"/>
          </p:cNvPicPr>
          <p:nvPr/>
        </p:nvPicPr>
        <p:blipFill>
          <a:blip r:embed="rId5"/>
          <a:stretch>
            <a:fillRect/>
          </a:stretch>
        </p:blipFill>
        <p:spPr>
          <a:xfrm>
            <a:off x="2525286" y="6276175"/>
            <a:ext cx="473540" cy="473540"/>
          </a:xfrm>
          <a:prstGeom prst="rect">
            <a:avLst/>
          </a:prstGeom>
        </p:spPr>
      </p:pic>
      <p:pic>
        <p:nvPicPr>
          <p:cNvPr id="10" name="Picture 9">
            <a:extLst>
              <a:ext uri="{FF2B5EF4-FFF2-40B4-BE49-F238E27FC236}">
                <a16:creationId xmlns:a16="http://schemas.microsoft.com/office/drawing/2014/main" id="{D73F3262-6093-07CC-62A6-960FBA04FA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02382" y="1595137"/>
            <a:ext cx="5507023" cy="2569129"/>
          </a:xfrm>
          <a:prstGeom prst="rect">
            <a:avLst/>
          </a:prstGeom>
        </p:spPr>
      </p:pic>
      <p:sp>
        <p:nvSpPr>
          <p:cNvPr id="4" name="TextBox 3">
            <a:extLst>
              <a:ext uri="{FF2B5EF4-FFF2-40B4-BE49-F238E27FC236}">
                <a16:creationId xmlns:a16="http://schemas.microsoft.com/office/drawing/2014/main" id="{D6565961-57E3-E87B-F2F6-43B5D745DF75}"/>
              </a:ext>
            </a:extLst>
          </p:cNvPr>
          <p:cNvSpPr txBox="1"/>
          <p:nvPr/>
        </p:nvSpPr>
        <p:spPr>
          <a:xfrm>
            <a:off x="0" y="5229812"/>
            <a:ext cx="4404852" cy="923330"/>
          </a:xfrm>
          <a:prstGeom prst="rect">
            <a:avLst/>
          </a:prstGeom>
          <a:noFill/>
        </p:spPr>
        <p:txBody>
          <a:bodyPr wrap="square" rtlCol="0">
            <a:spAutoFit/>
          </a:bodyPr>
          <a:lstStyle/>
          <a:p>
            <a:r>
              <a:rPr lang="en-US" dirty="0">
                <a:solidFill>
                  <a:schemeClr val="bg1"/>
                </a:solidFill>
                <a:latin typeface="Arial Black" panose="020B0A04020102020204" pitchFamily="34" charset="0"/>
              </a:rPr>
              <a:t>MATLAB &amp; Simulink workshop</a:t>
            </a:r>
          </a:p>
          <a:p>
            <a:endParaRPr lang="en-US" dirty="0">
              <a:solidFill>
                <a:schemeClr val="bg1"/>
              </a:solidFill>
              <a:latin typeface="Arial Black" panose="020B0A04020102020204" pitchFamily="34" charset="0"/>
            </a:endParaRPr>
          </a:p>
          <a:p>
            <a:r>
              <a:rPr lang="en-US" dirty="0">
                <a:solidFill>
                  <a:schemeClr val="bg1"/>
                </a:solidFill>
                <a:latin typeface="Arial Black" panose="020B0A04020102020204" pitchFamily="34" charset="0"/>
              </a:rPr>
              <a:t>Made by: Youssef Ahmed</a:t>
            </a:r>
          </a:p>
        </p:txBody>
      </p:sp>
    </p:spTree>
    <p:extLst>
      <p:ext uri="{BB962C8B-B14F-4D97-AF65-F5344CB8AC3E}">
        <p14:creationId xmlns:p14="http://schemas.microsoft.com/office/powerpoint/2010/main" val="50246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DC94-B74C-B268-FAF7-CE9E1C43E011}"/>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ACE80423-3437-84C2-6E7A-321813DDF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2" name="Rectangle 1">
            <a:extLst>
              <a:ext uri="{FF2B5EF4-FFF2-40B4-BE49-F238E27FC236}">
                <a16:creationId xmlns:a16="http://schemas.microsoft.com/office/drawing/2014/main" id="{56A28A4A-CE04-9DCD-38F7-93EEBE4F5EF9}"/>
              </a:ext>
            </a:extLst>
          </p:cNvPr>
          <p:cNvSpPr/>
          <p:nvPr/>
        </p:nvSpPr>
        <p:spPr>
          <a:xfrm>
            <a:off x="1503800" y="2315447"/>
            <a:ext cx="9184398" cy="184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6600" dirty="0">
                <a:latin typeface="Arial Black" pitchFamily="34" charset="0"/>
              </a:rPr>
              <a:t>Data Fitting &amp; </a:t>
            </a:r>
            <a:r>
              <a:rPr lang="en-US" sz="6600">
                <a:latin typeface="Arial Black" pitchFamily="34" charset="0"/>
              </a:rPr>
              <a:t>Signals processing</a:t>
            </a:r>
            <a:endParaRPr lang="ar-EG" sz="6600" dirty="0">
              <a:latin typeface="Arial Black" pitchFamily="34" charset="0"/>
            </a:endParaRPr>
          </a:p>
        </p:txBody>
      </p:sp>
      <p:sp>
        <p:nvSpPr>
          <p:cNvPr id="3" name="TextBox 2">
            <a:extLst>
              <a:ext uri="{FF2B5EF4-FFF2-40B4-BE49-F238E27FC236}">
                <a16:creationId xmlns:a16="http://schemas.microsoft.com/office/drawing/2014/main" id="{9CC73A78-ED01-9591-9EC9-6786E75E0D9F}"/>
              </a:ext>
            </a:extLst>
          </p:cNvPr>
          <p:cNvSpPr txBox="1"/>
          <p:nvPr/>
        </p:nvSpPr>
        <p:spPr>
          <a:xfrm>
            <a:off x="3765106" y="0"/>
            <a:ext cx="4645744" cy="1200329"/>
          </a:xfrm>
          <a:prstGeom prst="rect">
            <a:avLst/>
          </a:prstGeom>
          <a:noFill/>
        </p:spPr>
        <p:txBody>
          <a:bodyPr wrap="square" rtlCol="0">
            <a:spAutoFit/>
          </a:bodyPr>
          <a:lstStyle/>
          <a:p>
            <a:pPr algn="ctr"/>
            <a:r>
              <a:rPr lang="en-US" sz="7200" b="1" dirty="0">
                <a:solidFill>
                  <a:srgbClr val="FF0000"/>
                </a:solidFill>
              </a:rPr>
              <a:t>Session 5</a:t>
            </a:r>
          </a:p>
        </p:txBody>
      </p:sp>
    </p:spTree>
    <p:extLst>
      <p:ext uri="{BB962C8B-B14F-4D97-AF65-F5344CB8AC3E}">
        <p14:creationId xmlns:p14="http://schemas.microsoft.com/office/powerpoint/2010/main" val="14293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2302-5FFA-752D-D15A-44F2F06F9636}"/>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35D0656A-D9EC-6E0B-930A-CF52EF5581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10" name="TextBox 9">
            <a:extLst>
              <a:ext uri="{FF2B5EF4-FFF2-40B4-BE49-F238E27FC236}">
                <a16:creationId xmlns:a16="http://schemas.microsoft.com/office/drawing/2014/main" id="{6DE228EB-9688-37C1-4194-7887ACB5C0BA}"/>
              </a:ext>
            </a:extLst>
          </p:cNvPr>
          <p:cNvSpPr txBox="1"/>
          <p:nvPr/>
        </p:nvSpPr>
        <p:spPr>
          <a:xfrm>
            <a:off x="1651495" y="199417"/>
            <a:ext cx="8889010" cy="1200329"/>
          </a:xfrm>
          <a:prstGeom prst="rect">
            <a:avLst/>
          </a:prstGeom>
          <a:noFill/>
        </p:spPr>
        <p:txBody>
          <a:bodyPr wrap="square" rtlCol="0">
            <a:spAutoFit/>
          </a:bodyPr>
          <a:lstStyle/>
          <a:p>
            <a:pPr algn="ctr"/>
            <a:r>
              <a:rPr lang="en-US" sz="7200" b="1" dirty="0">
                <a:solidFill>
                  <a:srgbClr val="FF0000"/>
                </a:solidFill>
              </a:rPr>
              <a:t>Workshop timeline</a:t>
            </a:r>
          </a:p>
        </p:txBody>
      </p:sp>
      <p:pic>
        <p:nvPicPr>
          <p:cNvPr id="3" name="Picture 2">
            <a:extLst>
              <a:ext uri="{FF2B5EF4-FFF2-40B4-BE49-F238E27FC236}">
                <a16:creationId xmlns:a16="http://schemas.microsoft.com/office/drawing/2014/main" id="{1F6BFCB1-AEB5-A502-D6CF-6BCCBC93F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4604" y="1388069"/>
            <a:ext cx="6122793" cy="40818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13643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24EB5-E48C-E5B1-C8C5-FBAB63E4D038}"/>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244A67E1-142D-C825-6A8A-EE0656A095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10" name="TextBox 9">
            <a:extLst>
              <a:ext uri="{FF2B5EF4-FFF2-40B4-BE49-F238E27FC236}">
                <a16:creationId xmlns:a16="http://schemas.microsoft.com/office/drawing/2014/main" id="{B43B3A36-8BC6-8120-F278-E58EC5317C65}"/>
              </a:ext>
            </a:extLst>
          </p:cNvPr>
          <p:cNvSpPr txBox="1"/>
          <p:nvPr/>
        </p:nvSpPr>
        <p:spPr>
          <a:xfrm>
            <a:off x="604522" y="199417"/>
            <a:ext cx="11635604" cy="1200329"/>
          </a:xfrm>
          <a:prstGeom prst="rect">
            <a:avLst/>
          </a:prstGeom>
          <a:noFill/>
        </p:spPr>
        <p:txBody>
          <a:bodyPr wrap="square" rtlCol="0">
            <a:spAutoFit/>
          </a:bodyPr>
          <a:lstStyle/>
          <a:p>
            <a:pPr algn="ctr"/>
            <a:r>
              <a:rPr lang="en-US" sz="7200" b="1" dirty="0">
                <a:solidFill>
                  <a:srgbClr val="FF0000"/>
                </a:solidFill>
              </a:rPr>
              <a:t>Part 1: Data fitting</a:t>
            </a:r>
          </a:p>
        </p:txBody>
      </p:sp>
      <p:pic>
        <p:nvPicPr>
          <p:cNvPr id="3" name="Picture 2">
            <a:extLst>
              <a:ext uri="{FF2B5EF4-FFF2-40B4-BE49-F238E27FC236}">
                <a16:creationId xmlns:a16="http://schemas.microsoft.com/office/drawing/2014/main" id="{42D759A0-AE27-A120-A935-45AE1427D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6839" y="1499419"/>
            <a:ext cx="7718323" cy="38591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1938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3A9E-A1B8-5370-325D-3FA6BC424374}"/>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BACDBBF7-90FC-AD3D-3560-38E7407794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0C2CC9DD-EEAE-AA07-9675-129238105BD9}"/>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B4F5D3A9-B9C3-6B07-AF69-91E6166EE81C}"/>
              </a:ext>
            </a:extLst>
          </p:cNvPr>
          <p:cNvSpPr txBox="1"/>
          <p:nvPr/>
        </p:nvSpPr>
        <p:spPr>
          <a:xfrm>
            <a:off x="223555" y="1469419"/>
            <a:ext cx="5840361" cy="1815882"/>
          </a:xfrm>
          <a:prstGeom prst="rect">
            <a:avLst/>
          </a:prstGeom>
          <a:noFill/>
        </p:spPr>
        <p:txBody>
          <a:bodyPr wrap="square" rtlCol="0">
            <a:spAutoFit/>
          </a:bodyPr>
          <a:lstStyle/>
          <a:p>
            <a:r>
              <a:rPr lang="en-US" sz="2400" dirty="0">
                <a:solidFill>
                  <a:schemeClr val="bg1"/>
                </a:solidFill>
              </a:rPr>
              <a:t>Answer can be summarized on one word:</a:t>
            </a:r>
          </a:p>
          <a:p>
            <a:r>
              <a:rPr lang="en-US" sz="2400" b="1" dirty="0">
                <a:solidFill>
                  <a:schemeClr val="bg1"/>
                </a:solidFill>
              </a:rPr>
              <a:t>DATA NOISE</a:t>
            </a:r>
            <a:endParaRPr lang="en-US" sz="3200" b="1" dirty="0">
              <a:solidFill>
                <a:schemeClr val="bg1"/>
              </a:solidFill>
            </a:endParaRPr>
          </a:p>
          <a:p>
            <a:pPr marL="514350" indent="-514350">
              <a:buFont typeface="Arial" panose="020B0604020202020204" pitchFamily="34" charset="0"/>
              <a:buChar char="•"/>
            </a:pPr>
            <a:endParaRPr lang="en-US" sz="3200" b="1" dirty="0">
              <a:solidFill>
                <a:schemeClr val="bg1"/>
              </a:solidFill>
            </a:endParaRPr>
          </a:p>
          <a:p>
            <a:pPr marL="514350" indent="-514350">
              <a:buFont typeface="Arial" panose="020B0604020202020204" pitchFamily="34" charset="0"/>
              <a:buChar char="•"/>
            </a:pPr>
            <a:endParaRPr lang="en-US" sz="3200" b="1" dirty="0">
              <a:solidFill>
                <a:schemeClr val="bg1"/>
              </a:solidFill>
            </a:endParaRPr>
          </a:p>
        </p:txBody>
      </p:sp>
      <p:sp>
        <p:nvSpPr>
          <p:cNvPr id="7" name="TextBox 6">
            <a:extLst>
              <a:ext uri="{FF2B5EF4-FFF2-40B4-BE49-F238E27FC236}">
                <a16:creationId xmlns:a16="http://schemas.microsoft.com/office/drawing/2014/main" id="{E950FEF5-985D-A08B-807F-1A1EBB10D991}"/>
              </a:ext>
            </a:extLst>
          </p:cNvPr>
          <p:cNvSpPr txBox="1"/>
          <p:nvPr/>
        </p:nvSpPr>
        <p:spPr>
          <a:xfrm>
            <a:off x="2562823" y="961588"/>
            <a:ext cx="7066355" cy="584775"/>
          </a:xfrm>
          <a:prstGeom prst="rect">
            <a:avLst/>
          </a:prstGeom>
          <a:noFill/>
        </p:spPr>
        <p:txBody>
          <a:bodyPr wrap="square" rtlCol="0">
            <a:spAutoFit/>
          </a:bodyPr>
          <a:lstStyle/>
          <a:p>
            <a:pPr algn="ctr"/>
            <a:r>
              <a:rPr lang="en-US" sz="3200" dirty="0">
                <a:solidFill>
                  <a:srgbClr val="FF0000"/>
                </a:solidFill>
              </a:rPr>
              <a:t>Why we need such things</a:t>
            </a:r>
          </a:p>
        </p:txBody>
      </p:sp>
      <p:pic>
        <p:nvPicPr>
          <p:cNvPr id="8" name="Picture 7">
            <a:extLst>
              <a:ext uri="{FF2B5EF4-FFF2-40B4-BE49-F238E27FC236}">
                <a16:creationId xmlns:a16="http://schemas.microsoft.com/office/drawing/2014/main" id="{015A000E-1D38-B785-D3D9-8F49A8C031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1639" y="1546363"/>
            <a:ext cx="5840361" cy="4374110"/>
          </a:xfrm>
          <a:prstGeom prst="rect">
            <a:avLst/>
          </a:prstGeom>
        </p:spPr>
      </p:pic>
    </p:spTree>
    <p:extLst>
      <p:ext uri="{BB962C8B-B14F-4D97-AF65-F5344CB8AC3E}">
        <p14:creationId xmlns:p14="http://schemas.microsoft.com/office/powerpoint/2010/main" val="152446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2E67-48FA-9001-29D9-B56A9C75A901}"/>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77F1BC93-EF0A-4AD6-A79C-2ECB95D568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91447709-5F96-B728-2A50-FE00919CF607}"/>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6FEA9738-1073-BF31-F19F-71A759B1FE00}"/>
              </a:ext>
            </a:extLst>
          </p:cNvPr>
          <p:cNvSpPr txBox="1"/>
          <p:nvPr/>
        </p:nvSpPr>
        <p:spPr>
          <a:xfrm>
            <a:off x="0" y="1546363"/>
            <a:ext cx="4526183" cy="830997"/>
          </a:xfrm>
          <a:prstGeom prst="rect">
            <a:avLst/>
          </a:prstGeom>
          <a:noFill/>
        </p:spPr>
        <p:txBody>
          <a:bodyPr wrap="square" rtlCol="0">
            <a:spAutoFit/>
          </a:bodyPr>
          <a:lstStyle/>
          <a:p>
            <a:r>
              <a:rPr lang="en-US" sz="2400" b="1" dirty="0">
                <a:solidFill>
                  <a:schemeClr val="bg1"/>
                </a:solidFill>
              </a:rPr>
              <a:t>We must assume we know system behavior (equation). </a:t>
            </a:r>
            <a:endParaRPr lang="en-US" sz="3200" b="1" dirty="0">
              <a:solidFill>
                <a:schemeClr val="bg1"/>
              </a:solidFill>
            </a:endParaRPr>
          </a:p>
        </p:txBody>
      </p:sp>
      <p:sp>
        <p:nvSpPr>
          <p:cNvPr id="7" name="TextBox 6">
            <a:extLst>
              <a:ext uri="{FF2B5EF4-FFF2-40B4-BE49-F238E27FC236}">
                <a16:creationId xmlns:a16="http://schemas.microsoft.com/office/drawing/2014/main" id="{3660D7B0-0398-8C5F-D8B7-AB5F22DB8AF6}"/>
              </a:ext>
            </a:extLst>
          </p:cNvPr>
          <p:cNvSpPr txBox="1"/>
          <p:nvPr/>
        </p:nvSpPr>
        <p:spPr>
          <a:xfrm>
            <a:off x="2562823" y="961588"/>
            <a:ext cx="7066355" cy="584775"/>
          </a:xfrm>
          <a:prstGeom prst="rect">
            <a:avLst/>
          </a:prstGeom>
          <a:noFill/>
        </p:spPr>
        <p:txBody>
          <a:bodyPr wrap="square" rtlCol="0">
            <a:spAutoFit/>
          </a:bodyPr>
          <a:lstStyle/>
          <a:p>
            <a:pPr algn="ctr"/>
            <a:r>
              <a:rPr lang="en-US" sz="3200" dirty="0">
                <a:solidFill>
                  <a:srgbClr val="FF0000"/>
                </a:solidFill>
              </a:rPr>
              <a:t>How to perform data fitting</a:t>
            </a:r>
          </a:p>
        </p:txBody>
      </p:sp>
      <p:sp>
        <p:nvSpPr>
          <p:cNvPr id="9" name="TextBox 8">
            <a:extLst>
              <a:ext uri="{FF2B5EF4-FFF2-40B4-BE49-F238E27FC236}">
                <a16:creationId xmlns:a16="http://schemas.microsoft.com/office/drawing/2014/main" id="{E3753182-BCE1-F10C-79D0-8D09BDF810F1}"/>
              </a:ext>
            </a:extLst>
          </p:cNvPr>
          <p:cNvSpPr txBox="1"/>
          <p:nvPr/>
        </p:nvSpPr>
        <p:spPr>
          <a:xfrm>
            <a:off x="0" y="2911952"/>
            <a:ext cx="4611329" cy="830997"/>
          </a:xfrm>
          <a:prstGeom prst="rect">
            <a:avLst/>
          </a:prstGeom>
          <a:noFill/>
        </p:spPr>
        <p:txBody>
          <a:bodyPr wrap="square" rtlCol="0">
            <a:spAutoFit/>
          </a:bodyPr>
          <a:lstStyle/>
          <a:p>
            <a:r>
              <a:rPr lang="en-US" sz="2400" b="1" dirty="0">
                <a:solidFill>
                  <a:schemeClr val="bg1"/>
                </a:solidFill>
              </a:rPr>
              <a:t>Then we try to minimize the error of equation vs real data</a:t>
            </a:r>
            <a:endParaRPr lang="en-US" sz="3200" b="1" dirty="0">
              <a:solidFill>
                <a:schemeClr val="bg1"/>
              </a:solidFill>
            </a:endParaRPr>
          </a:p>
        </p:txBody>
      </p:sp>
      <p:pic>
        <p:nvPicPr>
          <p:cNvPr id="13" name="Picture 12">
            <a:extLst>
              <a:ext uri="{FF2B5EF4-FFF2-40B4-BE49-F238E27FC236}">
                <a16:creationId xmlns:a16="http://schemas.microsoft.com/office/drawing/2014/main" id="{1CCB6329-8B1B-0B1B-F4C0-D5E897DEB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224" y="1546362"/>
            <a:ext cx="5803776" cy="4503647"/>
          </a:xfrm>
          <a:prstGeom prst="rect">
            <a:avLst/>
          </a:prstGeom>
        </p:spPr>
      </p:pic>
      <p:sp>
        <p:nvSpPr>
          <p:cNvPr id="14" name="TextBox 13">
            <a:extLst>
              <a:ext uri="{FF2B5EF4-FFF2-40B4-BE49-F238E27FC236}">
                <a16:creationId xmlns:a16="http://schemas.microsoft.com/office/drawing/2014/main" id="{F7D97BFC-5870-7B01-21A2-1F639709376A}"/>
              </a:ext>
            </a:extLst>
          </p:cNvPr>
          <p:cNvSpPr txBox="1"/>
          <p:nvPr/>
        </p:nvSpPr>
        <p:spPr>
          <a:xfrm>
            <a:off x="8616752" y="6256162"/>
            <a:ext cx="1346720" cy="461665"/>
          </a:xfrm>
          <a:prstGeom prst="rect">
            <a:avLst/>
          </a:prstGeom>
          <a:noFill/>
        </p:spPr>
        <p:txBody>
          <a:bodyPr wrap="square" rtlCol="0">
            <a:spAutoFit/>
          </a:bodyPr>
          <a:lstStyle/>
          <a:p>
            <a:r>
              <a:rPr lang="en-US" sz="2400" b="1" dirty="0">
                <a:solidFill>
                  <a:schemeClr val="bg1"/>
                </a:solidFill>
              </a:rPr>
              <a:t>Y=</a:t>
            </a:r>
            <a:r>
              <a:rPr lang="en-US" sz="2400" b="1" dirty="0" err="1">
                <a:solidFill>
                  <a:schemeClr val="bg1"/>
                </a:solidFill>
              </a:rPr>
              <a:t>mX+c</a:t>
            </a:r>
            <a:endParaRPr lang="en-US" sz="3200" b="1" dirty="0">
              <a:solidFill>
                <a:schemeClr val="bg1"/>
              </a:solidFill>
            </a:endParaRPr>
          </a:p>
        </p:txBody>
      </p:sp>
      <p:sp>
        <p:nvSpPr>
          <p:cNvPr id="16" name="TextBox 15">
            <a:extLst>
              <a:ext uri="{FF2B5EF4-FFF2-40B4-BE49-F238E27FC236}">
                <a16:creationId xmlns:a16="http://schemas.microsoft.com/office/drawing/2014/main" id="{D117A86C-AA31-CCB2-589E-0E0800C426F8}"/>
              </a:ext>
            </a:extLst>
          </p:cNvPr>
          <p:cNvSpPr txBox="1"/>
          <p:nvPr/>
        </p:nvSpPr>
        <p:spPr>
          <a:xfrm>
            <a:off x="0" y="4277540"/>
            <a:ext cx="4526183" cy="830997"/>
          </a:xfrm>
          <a:prstGeom prst="rect">
            <a:avLst/>
          </a:prstGeom>
          <a:noFill/>
        </p:spPr>
        <p:txBody>
          <a:bodyPr wrap="square" rtlCol="0">
            <a:spAutoFit/>
          </a:bodyPr>
          <a:lstStyle/>
          <a:p>
            <a:r>
              <a:rPr lang="en-US" sz="2400" b="1" dirty="0">
                <a:solidFill>
                  <a:schemeClr val="bg1"/>
                </a:solidFill>
              </a:rPr>
              <a:t>But what if we don’t know system equation ?</a:t>
            </a:r>
            <a:endParaRPr lang="en-US" sz="3200" b="1" dirty="0">
              <a:solidFill>
                <a:schemeClr val="bg1"/>
              </a:solidFill>
            </a:endParaRPr>
          </a:p>
        </p:txBody>
      </p:sp>
    </p:spTree>
    <p:extLst>
      <p:ext uri="{BB962C8B-B14F-4D97-AF65-F5344CB8AC3E}">
        <p14:creationId xmlns:p14="http://schemas.microsoft.com/office/powerpoint/2010/main" val="322771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4"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6968-B553-7592-834D-B74D907B858B}"/>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97E84A5F-6E45-DF36-6A61-886FA3AE7B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760F6D12-FBC3-0F44-525F-BD361760D390}"/>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ED834A0C-2EF0-1FBD-FF11-3028B4EE4454}"/>
              </a:ext>
            </a:extLst>
          </p:cNvPr>
          <p:cNvSpPr txBox="1"/>
          <p:nvPr/>
        </p:nvSpPr>
        <p:spPr>
          <a:xfrm>
            <a:off x="0" y="1546363"/>
            <a:ext cx="10491020" cy="461665"/>
          </a:xfrm>
          <a:prstGeom prst="rect">
            <a:avLst/>
          </a:prstGeom>
          <a:noFill/>
        </p:spPr>
        <p:txBody>
          <a:bodyPr wrap="square" rtlCol="0">
            <a:spAutoFit/>
          </a:bodyPr>
          <a:lstStyle/>
          <a:p>
            <a:r>
              <a:rPr lang="en-US" sz="2400" b="1" dirty="0">
                <a:solidFill>
                  <a:schemeClr val="bg1"/>
                </a:solidFill>
              </a:rPr>
              <a:t>There are a lot of parameters that can be used, the most important are:</a:t>
            </a:r>
          </a:p>
        </p:txBody>
      </p:sp>
      <p:sp>
        <p:nvSpPr>
          <p:cNvPr id="7" name="TextBox 6">
            <a:extLst>
              <a:ext uri="{FF2B5EF4-FFF2-40B4-BE49-F238E27FC236}">
                <a16:creationId xmlns:a16="http://schemas.microsoft.com/office/drawing/2014/main" id="{63E7FE4C-2573-8457-3959-40F68AA84821}"/>
              </a:ext>
            </a:extLst>
          </p:cNvPr>
          <p:cNvSpPr txBox="1"/>
          <p:nvPr/>
        </p:nvSpPr>
        <p:spPr>
          <a:xfrm>
            <a:off x="1630457" y="961588"/>
            <a:ext cx="8931087" cy="584775"/>
          </a:xfrm>
          <a:prstGeom prst="rect">
            <a:avLst/>
          </a:prstGeom>
          <a:noFill/>
        </p:spPr>
        <p:txBody>
          <a:bodyPr wrap="square" rtlCol="0">
            <a:spAutoFit/>
          </a:bodyPr>
          <a:lstStyle/>
          <a:p>
            <a:pPr algn="ctr"/>
            <a:r>
              <a:rPr lang="en-US" sz="3200" dirty="0">
                <a:solidFill>
                  <a:srgbClr val="FF0000"/>
                </a:solidFill>
              </a:rPr>
              <a:t>How can we measure the goodness of a fit?</a:t>
            </a:r>
          </a:p>
        </p:txBody>
      </p:sp>
      <p:pic>
        <p:nvPicPr>
          <p:cNvPr id="8" name="Picture 7">
            <a:extLst>
              <a:ext uri="{FF2B5EF4-FFF2-40B4-BE49-F238E27FC236}">
                <a16:creationId xmlns:a16="http://schemas.microsoft.com/office/drawing/2014/main" id="{A4120BE1-37C2-1A80-2B52-066728FFE88D}"/>
              </a:ext>
            </a:extLst>
          </p:cNvPr>
          <p:cNvPicPr>
            <a:picLocks noChangeAspect="1"/>
          </p:cNvPicPr>
          <p:nvPr/>
        </p:nvPicPr>
        <p:blipFill>
          <a:blip r:embed="rId3">
            <a:extLst>
              <a:ext uri="{28A0092B-C50C-407E-A947-70E740481C1C}">
                <a14:useLocalDpi xmlns:a14="http://schemas.microsoft.com/office/drawing/2010/main" val="0"/>
              </a:ext>
            </a:extLst>
          </a:blip>
          <a:srcRect b="28029"/>
          <a:stretch>
            <a:fillRect/>
          </a:stretch>
        </p:blipFill>
        <p:spPr>
          <a:xfrm>
            <a:off x="5252188" y="2107433"/>
            <a:ext cx="6939812" cy="3746006"/>
          </a:xfrm>
          <a:prstGeom prst="rect">
            <a:avLst/>
          </a:prstGeom>
        </p:spPr>
      </p:pic>
      <p:sp>
        <p:nvSpPr>
          <p:cNvPr id="9" name="TextBox 8">
            <a:extLst>
              <a:ext uri="{FF2B5EF4-FFF2-40B4-BE49-F238E27FC236}">
                <a16:creationId xmlns:a16="http://schemas.microsoft.com/office/drawing/2014/main" id="{EBD48A8A-915C-2917-131B-A0FF8998C26B}"/>
              </a:ext>
            </a:extLst>
          </p:cNvPr>
          <p:cNvSpPr txBox="1"/>
          <p:nvPr/>
        </p:nvSpPr>
        <p:spPr>
          <a:xfrm>
            <a:off x="-1" y="2100622"/>
            <a:ext cx="4011561" cy="1938992"/>
          </a:xfrm>
          <a:prstGeom prst="rect">
            <a:avLst/>
          </a:prstGeom>
          <a:noFill/>
        </p:spPr>
        <p:txBody>
          <a:bodyPr wrap="square" rtlCol="0">
            <a:spAutoFit/>
          </a:bodyPr>
          <a:lstStyle/>
          <a:p>
            <a:pPr marL="457200" indent="-457200">
              <a:buAutoNum type="arabicParenR"/>
            </a:pPr>
            <a:r>
              <a:rPr lang="en-US" sz="2400" b="1" dirty="0">
                <a:solidFill>
                  <a:schemeClr val="bg1"/>
                </a:solidFill>
              </a:rPr>
              <a:t>Sum of square error</a:t>
            </a:r>
          </a:p>
          <a:p>
            <a:pPr marL="457200" indent="-457200">
              <a:buAutoNum type="arabicParenR"/>
            </a:pPr>
            <a:endParaRPr lang="en-US" sz="2400" b="1" dirty="0">
              <a:solidFill>
                <a:schemeClr val="bg1"/>
              </a:solidFill>
            </a:endParaRPr>
          </a:p>
          <a:p>
            <a:pPr marL="457200" indent="-457200">
              <a:buAutoNum type="arabicParenR"/>
            </a:pPr>
            <a:endParaRPr lang="en-US" sz="2400" b="1" dirty="0">
              <a:solidFill>
                <a:schemeClr val="bg1"/>
              </a:solidFill>
            </a:endParaRPr>
          </a:p>
          <a:p>
            <a:pPr marL="457200" indent="-457200">
              <a:buAutoNum type="arabicParenR"/>
            </a:pPr>
            <a:endParaRPr lang="en-US" sz="2400" b="1" dirty="0">
              <a:solidFill>
                <a:schemeClr val="bg1"/>
              </a:solidFill>
            </a:endParaRPr>
          </a:p>
          <a:p>
            <a:pPr marL="457200" indent="-457200">
              <a:buAutoNum type="arabicParenR"/>
            </a:pPr>
            <a:r>
              <a:rPr lang="en-US" sz="2400" b="1" dirty="0">
                <a:solidFill>
                  <a:schemeClr val="bg1"/>
                </a:solidFill>
              </a:rPr>
              <a:t>Root mean square error</a:t>
            </a:r>
          </a:p>
        </p:txBody>
      </p:sp>
    </p:spTree>
    <p:extLst>
      <p:ext uri="{BB962C8B-B14F-4D97-AF65-F5344CB8AC3E}">
        <p14:creationId xmlns:p14="http://schemas.microsoft.com/office/powerpoint/2010/main" val="3742950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5712-B022-F767-5B1B-76334EA2597F}"/>
            </a:ext>
          </a:extLst>
        </p:cNvPr>
        <p:cNvGrpSpPr/>
        <p:nvPr/>
      </p:nvGrpSpPr>
      <p:grpSpPr>
        <a:xfrm>
          <a:off x="0" y="0"/>
          <a:ext cx="0" cy="0"/>
          <a:chOff x="0" y="0"/>
          <a:chExt cx="0" cy="0"/>
        </a:xfrm>
      </p:grpSpPr>
      <p:pic>
        <p:nvPicPr>
          <p:cNvPr id="5" name="Picture 4" descr="A picture containing screenshot, darkness, space, blur">
            <a:extLst>
              <a:ext uri="{FF2B5EF4-FFF2-40B4-BE49-F238E27FC236}">
                <a16:creationId xmlns:a16="http://schemas.microsoft.com/office/drawing/2014/main" id="{055EB0F2-640A-A8FA-6889-A3D6F58EB7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169" y="-54336"/>
            <a:ext cx="12304295" cy="6978316"/>
          </a:xfrm>
          <a:prstGeom prst="rect">
            <a:avLst/>
          </a:prstGeom>
        </p:spPr>
      </p:pic>
      <p:pic>
        <p:nvPicPr>
          <p:cNvPr id="6" name="Picture 5" descr="A logo with a star and wings&#10;&#10;Description automatically generated with low confidence">
            <a:extLst>
              <a:ext uri="{FF2B5EF4-FFF2-40B4-BE49-F238E27FC236}">
                <a16:creationId xmlns:a16="http://schemas.microsoft.com/office/drawing/2014/main" id="{12212245-2568-D79E-AEF2-FE95BEC58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E980D0D2-319B-ABEF-ED06-DDC7A31F5B57}"/>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A38C3036-AC19-C70F-FDC2-328EA5A88A72}"/>
              </a:ext>
            </a:extLst>
          </p:cNvPr>
          <p:cNvSpPr txBox="1"/>
          <p:nvPr/>
        </p:nvSpPr>
        <p:spPr>
          <a:xfrm>
            <a:off x="0" y="1546363"/>
            <a:ext cx="10491020" cy="461665"/>
          </a:xfrm>
          <a:prstGeom prst="rect">
            <a:avLst/>
          </a:prstGeom>
          <a:noFill/>
        </p:spPr>
        <p:txBody>
          <a:bodyPr wrap="square" rtlCol="0">
            <a:spAutoFit/>
          </a:bodyPr>
          <a:lstStyle/>
          <a:p>
            <a:r>
              <a:rPr lang="en-US" sz="2400" b="1" dirty="0">
                <a:solidFill>
                  <a:schemeClr val="bg1"/>
                </a:solidFill>
              </a:rPr>
              <a:t>There are a lot of parameters that can be used, the most important are:</a:t>
            </a:r>
          </a:p>
        </p:txBody>
      </p:sp>
      <p:sp>
        <p:nvSpPr>
          <p:cNvPr id="7" name="TextBox 6">
            <a:extLst>
              <a:ext uri="{FF2B5EF4-FFF2-40B4-BE49-F238E27FC236}">
                <a16:creationId xmlns:a16="http://schemas.microsoft.com/office/drawing/2014/main" id="{86FAA41C-DCC0-D69F-5D99-A7CE9D8E1E0C}"/>
              </a:ext>
            </a:extLst>
          </p:cNvPr>
          <p:cNvSpPr txBox="1"/>
          <p:nvPr/>
        </p:nvSpPr>
        <p:spPr>
          <a:xfrm>
            <a:off x="1630457" y="961588"/>
            <a:ext cx="8931087" cy="584775"/>
          </a:xfrm>
          <a:prstGeom prst="rect">
            <a:avLst/>
          </a:prstGeom>
          <a:noFill/>
        </p:spPr>
        <p:txBody>
          <a:bodyPr wrap="square" rtlCol="0">
            <a:spAutoFit/>
          </a:bodyPr>
          <a:lstStyle/>
          <a:p>
            <a:pPr algn="ctr"/>
            <a:r>
              <a:rPr lang="en-US" sz="3200" dirty="0">
                <a:solidFill>
                  <a:srgbClr val="FF0000"/>
                </a:solidFill>
              </a:rPr>
              <a:t>How can we measure the goodness of a fit?</a:t>
            </a:r>
          </a:p>
        </p:txBody>
      </p:sp>
      <p:sp>
        <p:nvSpPr>
          <p:cNvPr id="9" name="TextBox 8">
            <a:extLst>
              <a:ext uri="{FF2B5EF4-FFF2-40B4-BE49-F238E27FC236}">
                <a16:creationId xmlns:a16="http://schemas.microsoft.com/office/drawing/2014/main" id="{1A6510CD-D016-5E33-D418-BFEAC75ED5F0}"/>
              </a:ext>
            </a:extLst>
          </p:cNvPr>
          <p:cNvSpPr txBox="1"/>
          <p:nvPr/>
        </p:nvSpPr>
        <p:spPr>
          <a:xfrm>
            <a:off x="0" y="2100622"/>
            <a:ext cx="3195484" cy="461665"/>
          </a:xfrm>
          <a:prstGeom prst="rect">
            <a:avLst/>
          </a:prstGeom>
          <a:noFill/>
        </p:spPr>
        <p:txBody>
          <a:bodyPr wrap="square" rtlCol="0">
            <a:spAutoFit/>
          </a:bodyPr>
          <a:lstStyle/>
          <a:p>
            <a:r>
              <a:rPr lang="en-US" sz="2400" b="1" dirty="0">
                <a:solidFill>
                  <a:schemeClr val="bg1"/>
                </a:solidFill>
              </a:rPr>
              <a:t>3) R-squared</a:t>
            </a:r>
          </a:p>
        </p:txBody>
      </p:sp>
      <p:pic>
        <p:nvPicPr>
          <p:cNvPr id="10" name="Picture 9">
            <a:extLst>
              <a:ext uri="{FF2B5EF4-FFF2-40B4-BE49-F238E27FC236}">
                <a16:creationId xmlns:a16="http://schemas.microsoft.com/office/drawing/2014/main" id="{8CA56571-31B9-24A5-BDDF-9F0490E42F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2160" y="2024110"/>
            <a:ext cx="9669840" cy="3841277"/>
          </a:xfrm>
          <a:prstGeom prst="rect">
            <a:avLst/>
          </a:prstGeom>
        </p:spPr>
      </p:pic>
    </p:spTree>
    <p:extLst>
      <p:ext uri="{BB962C8B-B14F-4D97-AF65-F5344CB8AC3E}">
        <p14:creationId xmlns:p14="http://schemas.microsoft.com/office/powerpoint/2010/main" val="64682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6393-E24F-F18E-AC2D-8B3600AA3F4C}"/>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6BE9FABD-B25A-2D34-69CF-10C31A1DC4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B8B48ECC-1ED5-3AEB-E522-E30F3805A293}"/>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7E55C10D-BC9F-C83B-C527-E4AFDDCB43FF}"/>
              </a:ext>
            </a:extLst>
          </p:cNvPr>
          <p:cNvSpPr txBox="1"/>
          <p:nvPr/>
        </p:nvSpPr>
        <p:spPr>
          <a:xfrm>
            <a:off x="0" y="1425951"/>
            <a:ext cx="10491020" cy="461665"/>
          </a:xfrm>
          <a:prstGeom prst="rect">
            <a:avLst/>
          </a:prstGeom>
          <a:noFill/>
        </p:spPr>
        <p:txBody>
          <a:bodyPr wrap="square" rtlCol="0">
            <a:spAutoFit/>
          </a:bodyPr>
          <a:lstStyle/>
          <a:p>
            <a:r>
              <a:rPr lang="en-US" sz="2400" b="1" dirty="0">
                <a:solidFill>
                  <a:schemeClr val="bg1"/>
                </a:solidFill>
              </a:rPr>
              <a:t>Which one is better and why?</a:t>
            </a:r>
          </a:p>
        </p:txBody>
      </p:sp>
      <p:sp>
        <p:nvSpPr>
          <p:cNvPr id="7" name="TextBox 6">
            <a:extLst>
              <a:ext uri="{FF2B5EF4-FFF2-40B4-BE49-F238E27FC236}">
                <a16:creationId xmlns:a16="http://schemas.microsoft.com/office/drawing/2014/main" id="{3B4D4DD1-3D7E-3F5E-210C-B0E7BAF3F94C}"/>
              </a:ext>
            </a:extLst>
          </p:cNvPr>
          <p:cNvSpPr txBox="1"/>
          <p:nvPr/>
        </p:nvSpPr>
        <p:spPr>
          <a:xfrm>
            <a:off x="1630457" y="961588"/>
            <a:ext cx="8931087" cy="584775"/>
          </a:xfrm>
          <a:prstGeom prst="rect">
            <a:avLst/>
          </a:prstGeom>
          <a:noFill/>
        </p:spPr>
        <p:txBody>
          <a:bodyPr wrap="square" rtlCol="0">
            <a:spAutoFit/>
          </a:bodyPr>
          <a:lstStyle/>
          <a:p>
            <a:pPr algn="ctr"/>
            <a:r>
              <a:rPr lang="en-US" sz="3200" dirty="0">
                <a:solidFill>
                  <a:srgbClr val="FF0000"/>
                </a:solidFill>
              </a:rPr>
              <a:t>Overfitting problem</a:t>
            </a:r>
          </a:p>
        </p:txBody>
      </p:sp>
      <p:pic>
        <p:nvPicPr>
          <p:cNvPr id="8" name="Picture 7">
            <a:extLst>
              <a:ext uri="{FF2B5EF4-FFF2-40B4-BE49-F238E27FC236}">
                <a16:creationId xmlns:a16="http://schemas.microsoft.com/office/drawing/2014/main" id="{B5D9F722-B754-1743-0115-AFBFDB256564}"/>
              </a:ext>
            </a:extLst>
          </p:cNvPr>
          <p:cNvPicPr>
            <a:picLocks noChangeAspect="1"/>
          </p:cNvPicPr>
          <p:nvPr/>
        </p:nvPicPr>
        <p:blipFill>
          <a:blip r:embed="rId3"/>
          <a:stretch>
            <a:fillRect/>
          </a:stretch>
        </p:blipFill>
        <p:spPr>
          <a:xfrm>
            <a:off x="0" y="2008028"/>
            <a:ext cx="6090599" cy="2841945"/>
          </a:xfrm>
          <a:prstGeom prst="rect">
            <a:avLst/>
          </a:prstGeom>
        </p:spPr>
      </p:pic>
      <p:pic>
        <p:nvPicPr>
          <p:cNvPr id="12" name="Picture 11">
            <a:extLst>
              <a:ext uri="{FF2B5EF4-FFF2-40B4-BE49-F238E27FC236}">
                <a16:creationId xmlns:a16="http://schemas.microsoft.com/office/drawing/2014/main" id="{968ADCBC-0228-22BF-877B-67C600190612}"/>
              </a:ext>
            </a:extLst>
          </p:cNvPr>
          <p:cNvPicPr>
            <a:picLocks noChangeAspect="1"/>
          </p:cNvPicPr>
          <p:nvPr/>
        </p:nvPicPr>
        <p:blipFill>
          <a:blip r:embed="rId4"/>
          <a:srcRect b="421"/>
          <a:stretch>
            <a:fillRect/>
          </a:stretch>
        </p:blipFill>
        <p:spPr>
          <a:xfrm>
            <a:off x="6090599" y="2008028"/>
            <a:ext cx="6101401" cy="2841945"/>
          </a:xfrm>
          <a:prstGeom prst="rect">
            <a:avLst/>
          </a:prstGeom>
        </p:spPr>
      </p:pic>
      <p:sp>
        <p:nvSpPr>
          <p:cNvPr id="14" name="TextBox 13">
            <a:extLst>
              <a:ext uri="{FF2B5EF4-FFF2-40B4-BE49-F238E27FC236}">
                <a16:creationId xmlns:a16="http://schemas.microsoft.com/office/drawing/2014/main" id="{3D1213F0-7452-060F-C346-7293FF3DE190}"/>
              </a:ext>
            </a:extLst>
          </p:cNvPr>
          <p:cNvSpPr txBox="1"/>
          <p:nvPr/>
        </p:nvSpPr>
        <p:spPr>
          <a:xfrm>
            <a:off x="2637261" y="4970384"/>
            <a:ext cx="816077" cy="461665"/>
          </a:xfrm>
          <a:prstGeom prst="rect">
            <a:avLst/>
          </a:prstGeom>
          <a:noFill/>
        </p:spPr>
        <p:txBody>
          <a:bodyPr wrap="square" rtlCol="0">
            <a:spAutoFit/>
          </a:bodyPr>
          <a:lstStyle/>
          <a:p>
            <a:pPr algn="ctr"/>
            <a:r>
              <a:rPr lang="en-US" sz="2400" b="1" dirty="0">
                <a:solidFill>
                  <a:schemeClr val="bg1"/>
                </a:solidFill>
              </a:rPr>
              <a:t>(a)</a:t>
            </a:r>
          </a:p>
        </p:txBody>
      </p:sp>
      <p:sp>
        <p:nvSpPr>
          <p:cNvPr id="15" name="TextBox 14">
            <a:extLst>
              <a:ext uri="{FF2B5EF4-FFF2-40B4-BE49-F238E27FC236}">
                <a16:creationId xmlns:a16="http://schemas.microsoft.com/office/drawing/2014/main" id="{A2CAD8C9-4590-C26E-65A1-2AFB8D216137}"/>
              </a:ext>
            </a:extLst>
          </p:cNvPr>
          <p:cNvSpPr txBox="1"/>
          <p:nvPr/>
        </p:nvSpPr>
        <p:spPr>
          <a:xfrm>
            <a:off x="8733261" y="4970384"/>
            <a:ext cx="816077" cy="461665"/>
          </a:xfrm>
          <a:prstGeom prst="rect">
            <a:avLst/>
          </a:prstGeom>
          <a:noFill/>
        </p:spPr>
        <p:txBody>
          <a:bodyPr wrap="square" rtlCol="0">
            <a:spAutoFit/>
          </a:bodyPr>
          <a:lstStyle/>
          <a:p>
            <a:pPr algn="ctr"/>
            <a:r>
              <a:rPr lang="en-US" sz="2400" b="1" dirty="0">
                <a:solidFill>
                  <a:schemeClr val="bg1"/>
                </a:solidFill>
              </a:rPr>
              <a:t>(b)</a:t>
            </a:r>
          </a:p>
        </p:txBody>
      </p:sp>
      <p:sp>
        <p:nvSpPr>
          <p:cNvPr id="16" name="TextBox 15">
            <a:extLst>
              <a:ext uri="{FF2B5EF4-FFF2-40B4-BE49-F238E27FC236}">
                <a16:creationId xmlns:a16="http://schemas.microsoft.com/office/drawing/2014/main" id="{CA47A900-C5CA-95F4-29C1-DC0ED56A3690}"/>
              </a:ext>
            </a:extLst>
          </p:cNvPr>
          <p:cNvSpPr txBox="1"/>
          <p:nvPr/>
        </p:nvSpPr>
        <p:spPr>
          <a:xfrm>
            <a:off x="0" y="5490160"/>
            <a:ext cx="6995911" cy="461665"/>
          </a:xfrm>
          <a:prstGeom prst="rect">
            <a:avLst/>
          </a:prstGeom>
          <a:noFill/>
        </p:spPr>
        <p:txBody>
          <a:bodyPr wrap="square" rtlCol="0">
            <a:spAutoFit/>
          </a:bodyPr>
          <a:lstStyle/>
          <a:p>
            <a:r>
              <a:rPr lang="en-US" sz="2400" b="1" dirty="0">
                <a:solidFill>
                  <a:schemeClr val="bg1"/>
                </a:solidFill>
              </a:rPr>
              <a:t>(a) Is much better, but why?</a:t>
            </a:r>
          </a:p>
        </p:txBody>
      </p:sp>
    </p:spTree>
    <p:extLst>
      <p:ext uri="{BB962C8B-B14F-4D97-AF65-F5344CB8AC3E}">
        <p14:creationId xmlns:p14="http://schemas.microsoft.com/office/powerpoint/2010/main" val="351812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C0C1-E3FB-4DB1-AC64-C57C933C7159}"/>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0F6D718D-A823-0ACE-620D-827402C999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88102586-1C2B-A02D-A4ED-D9718C0EC8B3}"/>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Data fitting</a:t>
            </a:r>
          </a:p>
        </p:txBody>
      </p:sp>
      <p:sp>
        <p:nvSpPr>
          <p:cNvPr id="4" name="TextBox 3">
            <a:extLst>
              <a:ext uri="{FF2B5EF4-FFF2-40B4-BE49-F238E27FC236}">
                <a16:creationId xmlns:a16="http://schemas.microsoft.com/office/drawing/2014/main" id="{613CFF53-1916-1DE5-9E9F-DB5670687E0F}"/>
              </a:ext>
            </a:extLst>
          </p:cNvPr>
          <p:cNvSpPr txBox="1"/>
          <p:nvPr/>
        </p:nvSpPr>
        <p:spPr>
          <a:xfrm>
            <a:off x="0" y="1546363"/>
            <a:ext cx="10491020" cy="461665"/>
          </a:xfrm>
          <a:prstGeom prst="rect">
            <a:avLst/>
          </a:prstGeom>
          <a:noFill/>
        </p:spPr>
        <p:txBody>
          <a:bodyPr wrap="square" rtlCol="0">
            <a:spAutoFit/>
          </a:bodyPr>
          <a:lstStyle/>
          <a:p>
            <a:r>
              <a:rPr lang="en-US" sz="2400" b="1" dirty="0">
                <a:solidFill>
                  <a:schemeClr val="bg1"/>
                </a:solidFill>
              </a:rPr>
              <a:t>It is the answer to unknown system equation and overfitting problem.</a:t>
            </a:r>
          </a:p>
        </p:txBody>
      </p:sp>
      <p:sp>
        <p:nvSpPr>
          <p:cNvPr id="7" name="TextBox 6">
            <a:extLst>
              <a:ext uri="{FF2B5EF4-FFF2-40B4-BE49-F238E27FC236}">
                <a16:creationId xmlns:a16="http://schemas.microsoft.com/office/drawing/2014/main" id="{AE8B941F-0D2C-F961-E71E-E3E163DADFE2}"/>
              </a:ext>
            </a:extLst>
          </p:cNvPr>
          <p:cNvSpPr txBox="1"/>
          <p:nvPr/>
        </p:nvSpPr>
        <p:spPr>
          <a:xfrm>
            <a:off x="1630457" y="961588"/>
            <a:ext cx="8931087" cy="584775"/>
          </a:xfrm>
          <a:prstGeom prst="rect">
            <a:avLst/>
          </a:prstGeom>
          <a:noFill/>
        </p:spPr>
        <p:txBody>
          <a:bodyPr wrap="square" rtlCol="0">
            <a:spAutoFit/>
          </a:bodyPr>
          <a:lstStyle/>
          <a:p>
            <a:pPr algn="ctr"/>
            <a:r>
              <a:rPr lang="en-US" sz="3200" dirty="0">
                <a:solidFill>
                  <a:srgbClr val="FF0000"/>
                </a:solidFill>
              </a:rPr>
              <a:t>Validation data</a:t>
            </a:r>
          </a:p>
        </p:txBody>
      </p:sp>
      <p:pic>
        <p:nvPicPr>
          <p:cNvPr id="11" name="Picture 10">
            <a:extLst>
              <a:ext uri="{FF2B5EF4-FFF2-40B4-BE49-F238E27FC236}">
                <a16:creationId xmlns:a16="http://schemas.microsoft.com/office/drawing/2014/main" id="{24ED3D59-D510-DC73-C8D9-46375CEC7A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615" y="1977512"/>
            <a:ext cx="7776768" cy="38883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2129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41AEB-EEEA-4C59-143F-EA3717E5B331}"/>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ED396E4B-4A01-E18A-6ABB-284F870935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7" name="TextBox 6">
            <a:extLst>
              <a:ext uri="{FF2B5EF4-FFF2-40B4-BE49-F238E27FC236}">
                <a16:creationId xmlns:a16="http://schemas.microsoft.com/office/drawing/2014/main" id="{6321B845-BE29-76CA-D639-71BB5C395ACB}"/>
              </a:ext>
            </a:extLst>
          </p:cNvPr>
          <p:cNvSpPr txBox="1"/>
          <p:nvPr/>
        </p:nvSpPr>
        <p:spPr>
          <a:xfrm>
            <a:off x="3773127" y="130591"/>
            <a:ext cx="4645744" cy="584775"/>
          </a:xfrm>
          <a:prstGeom prst="rect">
            <a:avLst/>
          </a:prstGeom>
          <a:noFill/>
        </p:spPr>
        <p:txBody>
          <a:bodyPr wrap="square" rtlCol="0">
            <a:spAutoFit/>
          </a:bodyPr>
          <a:lstStyle/>
          <a:p>
            <a:pPr algn="ctr"/>
            <a:r>
              <a:rPr lang="en-US" sz="3200" b="1" dirty="0">
                <a:solidFill>
                  <a:srgbClr val="FF0000"/>
                </a:solidFill>
              </a:rPr>
              <a:t>MATLAB time! </a:t>
            </a:r>
          </a:p>
        </p:txBody>
      </p:sp>
      <p:pic>
        <p:nvPicPr>
          <p:cNvPr id="9" name="Picture 8" descr="A colorful curved object with a black background&#10;&#10;AI-generated content may be incorrect.">
            <a:extLst>
              <a:ext uri="{FF2B5EF4-FFF2-40B4-BE49-F238E27FC236}">
                <a16:creationId xmlns:a16="http://schemas.microsoft.com/office/drawing/2014/main" id="{61CA931A-17BC-80FA-7AEA-1623C2070A25}"/>
              </a:ext>
            </a:extLst>
          </p:cNvPr>
          <p:cNvPicPr>
            <a:picLocks noChangeAspect="1"/>
          </p:cNvPicPr>
          <p:nvPr/>
        </p:nvPicPr>
        <p:blipFill>
          <a:blip r:embed="rId3">
            <a:extLst>
              <a:ext uri="{28A0092B-C50C-407E-A947-70E740481C1C}">
                <a14:useLocalDpi xmlns:a14="http://schemas.microsoft.com/office/drawing/2010/main" val="0"/>
              </a:ext>
            </a:extLst>
          </a:blip>
          <a:srcRect l="16855" r="12955" b="2111"/>
          <a:stretch>
            <a:fillRect/>
          </a:stretch>
        </p:blipFill>
        <p:spPr>
          <a:xfrm>
            <a:off x="3478782" y="1631475"/>
            <a:ext cx="5234434" cy="4106327"/>
          </a:xfrm>
          <a:prstGeom prst="rect">
            <a:avLst/>
          </a:prstGeom>
        </p:spPr>
      </p:pic>
      <p:sp>
        <p:nvSpPr>
          <p:cNvPr id="2" name="TextBox 1">
            <a:extLst>
              <a:ext uri="{FF2B5EF4-FFF2-40B4-BE49-F238E27FC236}">
                <a16:creationId xmlns:a16="http://schemas.microsoft.com/office/drawing/2014/main" id="{0073C597-0FDA-6027-8CC3-BF1D9D0C47D1}"/>
              </a:ext>
            </a:extLst>
          </p:cNvPr>
          <p:cNvSpPr txBox="1"/>
          <p:nvPr/>
        </p:nvSpPr>
        <p:spPr>
          <a:xfrm>
            <a:off x="2027579" y="715366"/>
            <a:ext cx="8136842" cy="523220"/>
          </a:xfrm>
          <a:prstGeom prst="rect">
            <a:avLst/>
          </a:prstGeom>
          <a:noFill/>
        </p:spPr>
        <p:txBody>
          <a:bodyPr wrap="square" rtlCol="0">
            <a:spAutoFit/>
          </a:bodyPr>
          <a:lstStyle/>
          <a:p>
            <a:pPr algn="ctr"/>
            <a:r>
              <a:rPr lang="en-US" sz="2800" b="1" dirty="0">
                <a:solidFill>
                  <a:srgbClr val="FF0000"/>
                </a:solidFill>
              </a:rPr>
              <a:t>Now let’s see them live in MATLAB</a:t>
            </a:r>
          </a:p>
        </p:txBody>
      </p:sp>
    </p:spTree>
    <p:extLst>
      <p:ext uri="{BB962C8B-B14F-4D97-AF65-F5344CB8AC3E}">
        <p14:creationId xmlns:p14="http://schemas.microsoft.com/office/powerpoint/2010/main" val="402618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2302-5FFA-752D-D15A-44F2F06F9636}"/>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35D0656A-D9EC-6E0B-930A-CF52EF5581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10" name="TextBox 9">
            <a:extLst>
              <a:ext uri="{FF2B5EF4-FFF2-40B4-BE49-F238E27FC236}">
                <a16:creationId xmlns:a16="http://schemas.microsoft.com/office/drawing/2014/main" id="{6DE228EB-9688-37C1-4194-7887ACB5C0BA}"/>
              </a:ext>
            </a:extLst>
          </p:cNvPr>
          <p:cNvSpPr txBox="1"/>
          <p:nvPr/>
        </p:nvSpPr>
        <p:spPr>
          <a:xfrm>
            <a:off x="604522" y="199417"/>
            <a:ext cx="10982957" cy="1200329"/>
          </a:xfrm>
          <a:prstGeom prst="rect">
            <a:avLst/>
          </a:prstGeom>
          <a:noFill/>
        </p:spPr>
        <p:txBody>
          <a:bodyPr wrap="square" rtlCol="0">
            <a:spAutoFit/>
          </a:bodyPr>
          <a:lstStyle/>
          <a:p>
            <a:pPr algn="ctr"/>
            <a:r>
              <a:rPr lang="en-US" sz="7200" b="1" dirty="0">
                <a:solidFill>
                  <a:srgbClr val="FF0000"/>
                </a:solidFill>
              </a:rPr>
              <a:t>Part 2: Signals processing</a:t>
            </a:r>
          </a:p>
        </p:txBody>
      </p:sp>
      <p:pic>
        <p:nvPicPr>
          <p:cNvPr id="4" name="Picture 3">
            <a:extLst>
              <a:ext uri="{FF2B5EF4-FFF2-40B4-BE49-F238E27FC236}">
                <a16:creationId xmlns:a16="http://schemas.microsoft.com/office/drawing/2014/main" id="{4D6AF57A-2EED-F938-109C-0994AE98F1E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21714" y="1420086"/>
            <a:ext cx="8548571" cy="40178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1180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0C452-9DF7-CA6F-0A1D-17661FD27481}"/>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2B2D6DD9-B1D9-7ACA-5710-AA403A9440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2D739281-02E6-41A8-AA07-364A9D28C11C}"/>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Signals processing</a:t>
            </a:r>
          </a:p>
        </p:txBody>
      </p:sp>
      <p:sp>
        <p:nvSpPr>
          <p:cNvPr id="4" name="TextBox 3">
            <a:extLst>
              <a:ext uri="{FF2B5EF4-FFF2-40B4-BE49-F238E27FC236}">
                <a16:creationId xmlns:a16="http://schemas.microsoft.com/office/drawing/2014/main" id="{FE4872C4-EB4B-68AF-53F1-C385C8580B6C}"/>
              </a:ext>
            </a:extLst>
          </p:cNvPr>
          <p:cNvSpPr txBox="1"/>
          <p:nvPr/>
        </p:nvSpPr>
        <p:spPr>
          <a:xfrm>
            <a:off x="223555" y="1469419"/>
            <a:ext cx="6845839" cy="830997"/>
          </a:xfrm>
          <a:prstGeom prst="rect">
            <a:avLst/>
          </a:prstGeom>
          <a:noFill/>
        </p:spPr>
        <p:txBody>
          <a:bodyPr wrap="square" rtlCol="0">
            <a:spAutoFit/>
          </a:bodyPr>
          <a:lstStyle/>
          <a:p>
            <a:r>
              <a:rPr lang="en-US" sz="2400" dirty="0">
                <a:solidFill>
                  <a:schemeClr val="bg1"/>
                </a:solidFill>
              </a:rPr>
              <a:t>Signals processing is a vast topic, we will cover the main step only which is: </a:t>
            </a:r>
            <a:r>
              <a:rPr lang="en-US" sz="2400" b="1" dirty="0">
                <a:solidFill>
                  <a:schemeClr val="bg1"/>
                </a:solidFill>
              </a:rPr>
              <a:t>DATA FILTERING</a:t>
            </a:r>
            <a:endParaRPr lang="en-US" sz="3200" b="1" dirty="0">
              <a:solidFill>
                <a:schemeClr val="bg1"/>
              </a:solidFill>
            </a:endParaRPr>
          </a:p>
        </p:txBody>
      </p:sp>
      <p:sp>
        <p:nvSpPr>
          <p:cNvPr id="7" name="TextBox 6">
            <a:extLst>
              <a:ext uri="{FF2B5EF4-FFF2-40B4-BE49-F238E27FC236}">
                <a16:creationId xmlns:a16="http://schemas.microsoft.com/office/drawing/2014/main" id="{D27E55FB-E75C-C164-D407-320A3B85EF32}"/>
              </a:ext>
            </a:extLst>
          </p:cNvPr>
          <p:cNvSpPr txBox="1"/>
          <p:nvPr/>
        </p:nvSpPr>
        <p:spPr>
          <a:xfrm>
            <a:off x="2562823" y="961588"/>
            <a:ext cx="7066355" cy="584775"/>
          </a:xfrm>
          <a:prstGeom prst="rect">
            <a:avLst/>
          </a:prstGeom>
          <a:noFill/>
        </p:spPr>
        <p:txBody>
          <a:bodyPr wrap="square" rtlCol="0">
            <a:spAutoFit/>
          </a:bodyPr>
          <a:lstStyle/>
          <a:p>
            <a:pPr algn="ctr"/>
            <a:r>
              <a:rPr lang="en-US" sz="3200" dirty="0">
                <a:solidFill>
                  <a:srgbClr val="FF0000"/>
                </a:solidFill>
              </a:rPr>
              <a:t>What we will cover</a:t>
            </a:r>
          </a:p>
        </p:txBody>
      </p:sp>
      <p:pic>
        <p:nvPicPr>
          <p:cNvPr id="9" name="Picture 8">
            <a:extLst>
              <a:ext uri="{FF2B5EF4-FFF2-40B4-BE49-F238E27FC236}">
                <a16:creationId xmlns:a16="http://schemas.microsoft.com/office/drawing/2014/main" id="{C8934539-8ED1-B45D-A934-933F5D855A68}"/>
              </a:ext>
            </a:extLst>
          </p:cNvPr>
          <p:cNvPicPr>
            <a:picLocks noChangeAspect="1"/>
          </p:cNvPicPr>
          <p:nvPr/>
        </p:nvPicPr>
        <p:blipFill>
          <a:blip r:embed="rId3">
            <a:extLst>
              <a:ext uri="{28A0092B-C50C-407E-A947-70E740481C1C}">
                <a14:useLocalDpi xmlns:a14="http://schemas.microsoft.com/office/drawing/2010/main" val="0"/>
              </a:ext>
            </a:extLst>
          </a:blip>
          <a:srcRect b="7383"/>
          <a:stretch>
            <a:fillRect/>
          </a:stretch>
        </p:blipFill>
        <p:spPr>
          <a:xfrm>
            <a:off x="7371672" y="1530067"/>
            <a:ext cx="4820328" cy="4821572"/>
          </a:xfrm>
          <a:prstGeom prst="rect">
            <a:avLst/>
          </a:prstGeom>
        </p:spPr>
      </p:pic>
    </p:spTree>
    <p:extLst>
      <p:ext uri="{BB962C8B-B14F-4D97-AF65-F5344CB8AC3E}">
        <p14:creationId xmlns:p14="http://schemas.microsoft.com/office/powerpoint/2010/main" val="22754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391EB-5F92-6888-BF1D-88A4A91D2A37}"/>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38DB7748-CE5F-6B82-AD48-F8F97F0B84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4C7C43E2-FC21-18D6-2082-47FF473B7633}"/>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Signals processing</a:t>
            </a:r>
          </a:p>
        </p:txBody>
      </p:sp>
      <p:sp>
        <p:nvSpPr>
          <p:cNvPr id="4" name="TextBox 3">
            <a:extLst>
              <a:ext uri="{FF2B5EF4-FFF2-40B4-BE49-F238E27FC236}">
                <a16:creationId xmlns:a16="http://schemas.microsoft.com/office/drawing/2014/main" id="{E505DEDC-EAD7-10E8-559F-C39463670225}"/>
              </a:ext>
            </a:extLst>
          </p:cNvPr>
          <p:cNvSpPr txBox="1"/>
          <p:nvPr/>
        </p:nvSpPr>
        <p:spPr>
          <a:xfrm>
            <a:off x="0" y="1469419"/>
            <a:ext cx="6845839" cy="461665"/>
          </a:xfrm>
          <a:prstGeom prst="rect">
            <a:avLst/>
          </a:prstGeom>
          <a:noFill/>
        </p:spPr>
        <p:txBody>
          <a:bodyPr wrap="square" rtlCol="0">
            <a:spAutoFit/>
          </a:bodyPr>
          <a:lstStyle/>
          <a:p>
            <a:r>
              <a:rPr lang="en-US" sz="2400" dirty="0">
                <a:solidFill>
                  <a:schemeClr val="bg1"/>
                </a:solidFill>
              </a:rPr>
              <a:t>What is data filtering?</a:t>
            </a:r>
            <a:endParaRPr lang="en-US" sz="3200" b="1" dirty="0">
              <a:solidFill>
                <a:schemeClr val="bg1"/>
              </a:solidFill>
            </a:endParaRPr>
          </a:p>
        </p:txBody>
      </p:sp>
      <p:sp>
        <p:nvSpPr>
          <p:cNvPr id="7" name="TextBox 6">
            <a:extLst>
              <a:ext uri="{FF2B5EF4-FFF2-40B4-BE49-F238E27FC236}">
                <a16:creationId xmlns:a16="http://schemas.microsoft.com/office/drawing/2014/main" id="{EDBCD781-8F1A-F573-AE78-CF396FA50533}"/>
              </a:ext>
            </a:extLst>
          </p:cNvPr>
          <p:cNvSpPr txBox="1"/>
          <p:nvPr/>
        </p:nvSpPr>
        <p:spPr>
          <a:xfrm>
            <a:off x="2562823" y="961588"/>
            <a:ext cx="7066355" cy="584775"/>
          </a:xfrm>
          <a:prstGeom prst="rect">
            <a:avLst/>
          </a:prstGeom>
          <a:noFill/>
        </p:spPr>
        <p:txBody>
          <a:bodyPr wrap="square" rtlCol="0">
            <a:spAutoFit/>
          </a:bodyPr>
          <a:lstStyle/>
          <a:p>
            <a:pPr algn="ctr"/>
            <a:r>
              <a:rPr lang="en-US" sz="3200" dirty="0">
                <a:solidFill>
                  <a:srgbClr val="FF0000"/>
                </a:solidFill>
              </a:rPr>
              <a:t>Data filtering</a:t>
            </a:r>
          </a:p>
        </p:txBody>
      </p:sp>
      <p:pic>
        <p:nvPicPr>
          <p:cNvPr id="8" name="Picture 7">
            <a:extLst>
              <a:ext uri="{FF2B5EF4-FFF2-40B4-BE49-F238E27FC236}">
                <a16:creationId xmlns:a16="http://schemas.microsoft.com/office/drawing/2014/main" id="{9C6F45AA-5680-F482-6BE4-9CCF1ACEA7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172" y="2300416"/>
            <a:ext cx="7283655" cy="3748418"/>
          </a:xfrm>
          <a:prstGeom prst="rect">
            <a:avLst/>
          </a:prstGeom>
        </p:spPr>
      </p:pic>
    </p:spTree>
    <p:extLst>
      <p:ext uri="{BB962C8B-B14F-4D97-AF65-F5344CB8AC3E}">
        <p14:creationId xmlns:p14="http://schemas.microsoft.com/office/powerpoint/2010/main" val="124110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F6D81-CEFF-6873-7AA6-691C8F04B926}"/>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040A0857-2DCC-B4B1-D12D-7D7865AC0A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A9533F14-D9B4-EB04-F2F4-D2FB2C32DA27}"/>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Signals processing</a:t>
            </a:r>
          </a:p>
        </p:txBody>
      </p:sp>
      <p:sp>
        <p:nvSpPr>
          <p:cNvPr id="7" name="TextBox 6">
            <a:extLst>
              <a:ext uri="{FF2B5EF4-FFF2-40B4-BE49-F238E27FC236}">
                <a16:creationId xmlns:a16="http://schemas.microsoft.com/office/drawing/2014/main" id="{D27E19B6-9584-A900-4777-4B259A8578C9}"/>
              </a:ext>
            </a:extLst>
          </p:cNvPr>
          <p:cNvSpPr txBox="1"/>
          <p:nvPr/>
        </p:nvSpPr>
        <p:spPr>
          <a:xfrm>
            <a:off x="8023" y="961588"/>
            <a:ext cx="12175955" cy="584775"/>
          </a:xfrm>
          <a:prstGeom prst="rect">
            <a:avLst/>
          </a:prstGeom>
          <a:noFill/>
        </p:spPr>
        <p:txBody>
          <a:bodyPr wrap="square" rtlCol="0">
            <a:spAutoFit/>
          </a:bodyPr>
          <a:lstStyle/>
          <a:p>
            <a:pPr algn="ctr"/>
            <a:r>
              <a:rPr lang="en-US" sz="3200" dirty="0">
                <a:solidFill>
                  <a:srgbClr val="FF0000"/>
                </a:solidFill>
              </a:rPr>
              <a:t>Time vs frequency domain and Fourier series and transform</a:t>
            </a:r>
          </a:p>
        </p:txBody>
      </p:sp>
      <p:pic>
        <p:nvPicPr>
          <p:cNvPr id="9" name="Picture 8">
            <a:extLst>
              <a:ext uri="{FF2B5EF4-FFF2-40B4-BE49-F238E27FC236}">
                <a16:creationId xmlns:a16="http://schemas.microsoft.com/office/drawing/2014/main" id="{790D4A1C-6835-D02D-01EF-D80E68470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9831" y="1632156"/>
            <a:ext cx="8052338" cy="4328004"/>
          </a:xfrm>
          <a:prstGeom prst="rect">
            <a:avLst/>
          </a:prstGeom>
        </p:spPr>
      </p:pic>
    </p:spTree>
    <p:extLst>
      <p:ext uri="{BB962C8B-B14F-4D97-AF65-F5344CB8AC3E}">
        <p14:creationId xmlns:p14="http://schemas.microsoft.com/office/powerpoint/2010/main" val="369882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6B08-068F-C20F-C6C5-FA060E876B75}"/>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17A05336-7786-C345-931F-CE1502D9A5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D0BD408E-3B77-A009-4B97-0A92EE2E998C}"/>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Signals processing</a:t>
            </a:r>
          </a:p>
        </p:txBody>
      </p:sp>
      <p:sp>
        <p:nvSpPr>
          <p:cNvPr id="7" name="TextBox 6">
            <a:extLst>
              <a:ext uri="{FF2B5EF4-FFF2-40B4-BE49-F238E27FC236}">
                <a16:creationId xmlns:a16="http://schemas.microsoft.com/office/drawing/2014/main" id="{71ABF605-FF8B-709F-2BB5-BBD6CD291DB8}"/>
              </a:ext>
            </a:extLst>
          </p:cNvPr>
          <p:cNvSpPr txBox="1"/>
          <p:nvPr/>
        </p:nvSpPr>
        <p:spPr>
          <a:xfrm>
            <a:off x="8023" y="961588"/>
            <a:ext cx="12175955" cy="584775"/>
          </a:xfrm>
          <a:prstGeom prst="rect">
            <a:avLst/>
          </a:prstGeom>
          <a:noFill/>
        </p:spPr>
        <p:txBody>
          <a:bodyPr wrap="square" rtlCol="0">
            <a:spAutoFit/>
          </a:bodyPr>
          <a:lstStyle/>
          <a:p>
            <a:pPr algn="ctr"/>
            <a:r>
              <a:rPr lang="en-US" sz="3200" dirty="0">
                <a:solidFill>
                  <a:srgbClr val="FF0000"/>
                </a:solidFill>
              </a:rPr>
              <a:t>How would that help?</a:t>
            </a:r>
          </a:p>
        </p:txBody>
      </p:sp>
      <p:pic>
        <p:nvPicPr>
          <p:cNvPr id="4" name="Picture 3">
            <a:extLst>
              <a:ext uri="{FF2B5EF4-FFF2-40B4-BE49-F238E27FC236}">
                <a16:creationId xmlns:a16="http://schemas.microsoft.com/office/drawing/2014/main" id="{DD15C4DC-CE12-5623-1E59-B6A67BAB1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3521" y="1546363"/>
            <a:ext cx="6169786" cy="4432007"/>
          </a:xfrm>
          <a:prstGeom prst="rect">
            <a:avLst/>
          </a:prstGeom>
        </p:spPr>
      </p:pic>
    </p:spTree>
    <p:extLst>
      <p:ext uri="{BB962C8B-B14F-4D97-AF65-F5344CB8AC3E}">
        <p14:creationId xmlns:p14="http://schemas.microsoft.com/office/powerpoint/2010/main" val="59189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BB1D-B58E-40DC-669F-C1AE1D37ED8A}"/>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8D0A887E-5506-3D0B-EA86-661B8DDFEB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3ABB56AE-0456-F984-3B56-BF297113C9AA}"/>
              </a:ext>
            </a:extLst>
          </p:cNvPr>
          <p:cNvSpPr txBox="1"/>
          <p:nvPr/>
        </p:nvSpPr>
        <p:spPr>
          <a:xfrm>
            <a:off x="3081183" y="130591"/>
            <a:ext cx="6029634" cy="830997"/>
          </a:xfrm>
          <a:prstGeom prst="rect">
            <a:avLst/>
          </a:prstGeom>
          <a:noFill/>
        </p:spPr>
        <p:txBody>
          <a:bodyPr wrap="square" rtlCol="0">
            <a:spAutoFit/>
          </a:bodyPr>
          <a:lstStyle/>
          <a:p>
            <a:pPr algn="ctr"/>
            <a:r>
              <a:rPr lang="en-US" sz="4800" b="1" dirty="0">
                <a:solidFill>
                  <a:srgbClr val="FF0000"/>
                </a:solidFill>
              </a:rPr>
              <a:t>Signals processing</a:t>
            </a:r>
          </a:p>
        </p:txBody>
      </p:sp>
      <p:sp>
        <p:nvSpPr>
          <p:cNvPr id="7" name="TextBox 6">
            <a:extLst>
              <a:ext uri="{FF2B5EF4-FFF2-40B4-BE49-F238E27FC236}">
                <a16:creationId xmlns:a16="http://schemas.microsoft.com/office/drawing/2014/main" id="{0ABC6D52-8CEB-69F2-A4EA-CC57235B7969}"/>
              </a:ext>
            </a:extLst>
          </p:cNvPr>
          <p:cNvSpPr txBox="1"/>
          <p:nvPr/>
        </p:nvSpPr>
        <p:spPr>
          <a:xfrm>
            <a:off x="8023" y="961588"/>
            <a:ext cx="12175955" cy="584775"/>
          </a:xfrm>
          <a:prstGeom prst="rect">
            <a:avLst/>
          </a:prstGeom>
          <a:noFill/>
        </p:spPr>
        <p:txBody>
          <a:bodyPr wrap="square" rtlCol="0">
            <a:spAutoFit/>
          </a:bodyPr>
          <a:lstStyle/>
          <a:p>
            <a:pPr algn="ctr"/>
            <a:r>
              <a:rPr lang="en-US" sz="3200" dirty="0">
                <a:solidFill>
                  <a:srgbClr val="FF0000"/>
                </a:solidFill>
              </a:rPr>
              <a:t>Low pass filter</a:t>
            </a:r>
          </a:p>
        </p:txBody>
      </p:sp>
      <p:pic>
        <p:nvPicPr>
          <p:cNvPr id="8" name="Picture 7">
            <a:extLst>
              <a:ext uri="{FF2B5EF4-FFF2-40B4-BE49-F238E27FC236}">
                <a16:creationId xmlns:a16="http://schemas.microsoft.com/office/drawing/2014/main" id="{4C69BFCC-5EFF-287D-0D8A-12D7F945D7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179" y="1985215"/>
            <a:ext cx="10549642" cy="2887570"/>
          </a:xfrm>
          <a:prstGeom prst="rect">
            <a:avLst/>
          </a:prstGeom>
        </p:spPr>
      </p:pic>
    </p:spTree>
    <p:extLst>
      <p:ext uri="{BB962C8B-B14F-4D97-AF65-F5344CB8AC3E}">
        <p14:creationId xmlns:p14="http://schemas.microsoft.com/office/powerpoint/2010/main" val="1331969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E99FA-7008-81FB-E115-DC68E3666F0B}"/>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A5F7A0E6-4693-47FC-ADF0-82BA412A08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7" name="TextBox 6">
            <a:extLst>
              <a:ext uri="{FF2B5EF4-FFF2-40B4-BE49-F238E27FC236}">
                <a16:creationId xmlns:a16="http://schemas.microsoft.com/office/drawing/2014/main" id="{054EF856-CD8E-2484-A0DB-33F1275EAAFD}"/>
              </a:ext>
            </a:extLst>
          </p:cNvPr>
          <p:cNvSpPr txBox="1"/>
          <p:nvPr/>
        </p:nvSpPr>
        <p:spPr>
          <a:xfrm>
            <a:off x="3773127" y="130591"/>
            <a:ext cx="4645744" cy="584775"/>
          </a:xfrm>
          <a:prstGeom prst="rect">
            <a:avLst/>
          </a:prstGeom>
          <a:noFill/>
        </p:spPr>
        <p:txBody>
          <a:bodyPr wrap="square" rtlCol="0">
            <a:spAutoFit/>
          </a:bodyPr>
          <a:lstStyle/>
          <a:p>
            <a:pPr algn="ctr"/>
            <a:r>
              <a:rPr lang="en-US" sz="3200" b="1" dirty="0">
                <a:solidFill>
                  <a:srgbClr val="FF0000"/>
                </a:solidFill>
              </a:rPr>
              <a:t>MATLAB time! </a:t>
            </a:r>
          </a:p>
        </p:txBody>
      </p:sp>
      <p:pic>
        <p:nvPicPr>
          <p:cNvPr id="9" name="Picture 8" descr="A colorful curved object with a black background&#10;&#10;AI-generated content may be incorrect.">
            <a:extLst>
              <a:ext uri="{FF2B5EF4-FFF2-40B4-BE49-F238E27FC236}">
                <a16:creationId xmlns:a16="http://schemas.microsoft.com/office/drawing/2014/main" id="{D3D57F77-23B7-339B-FE0E-EA32E0980D77}"/>
              </a:ext>
            </a:extLst>
          </p:cNvPr>
          <p:cNvPicPr>
            <a:picLocks noChangeAspect="1"/>
          </p:cNvPicPr>
          <p:nvPr/>
        </p:nvPicPr>
        <p:blipFill>
          <a:blip r:embed="rId3">
            <a:extLst>
              <a:ext uri="{28A0092B-C50C-407E-A947-70E740481C1C}">
                <a14:useLocalDpi xmlns:a14="http://schemas.microsoft.com/office/drawing/2010/main" val="0"/>
              </a:ext>
            </a:extLst>
          </a:blip>
          <a:srcRect l="16855" r="12955" b="2111"/>
          <a:stretch>
            <a:fillRect/>
          </a:stretch>
        </p:blipFill>
        <p:spPr>
          <a:xfrm>
            <a:off x="3478782" y="1631475"/>
            <a:ext cx="5234434" cy="4106327"/>
          </a:xfrm>
          <a:prstGeom prst="rect">
            <a:avLst/>
          </a:prstGeom>
        </p:spPr>
      </p:pic>
      <p:sp>
        <p:nvSpPr>
          <p:cNvPr id="2" name="TextBox 1">
            <a:extLst>
              <a:ext uri="{FF2B5EF4-FFF2-40B4-BE49-F238E27FC236}">
                <a16:creationId xmlns:a16="http://schemas.microsoft.com/office/drawing/2014/main" id="{6761A539-FEBF-5048-4138-BBAF7694677E}"/>
              </a:ext>
            </a:extLst>
          </p:cNvPr>
          <p:cNvSpPr txBox="1"/>
          <p:nvPr/>
        </p:nvSpPr>
        <p:spPr>
          <a:xfrm>
            <a:off x="2027579" y="715366"/>
            <a:ext cx="8136842" cy="523220"/>
          </a:xfrm>
          <a:prstGeom prst="rect">
            <a:avLst/>
          </a:prstGeom>
          <a:noFill/>
        </p:spPr>
        <p:txBody>
          <a:bodyPr wrap="square" rtlCol="0">
            <a:spAutoFit/>
          </a:bodyPr>
          <a:lstStyle/>
          <a:p>
            <a:pPr algn="ctr"/>
            <a:r>
              <a:rPr lang="en-US" sz="2800" b="1" dirty="0">
                <a:solidFill>
                  <a:srgbClr val="FF0000"/>
                </a:solidFill>
              </a:rPr>
              <a:t>Now let’s see what we covered so far in MATLAB</a:t>
            </a:r>
          </a:p>
        </p:txBody>
      </p:sp>
    </p:spTree>
    <p:extLst>
      <p:ext uri="{BB962C8B-B14F-4D97-AF65-F5344CB8AC3E}">
        <p14:creationId xmlns:p14="http://schemas.microsoft.com/office/powerpoint/2010/main" val="338647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035A-1DC6-5EAA-ABEA-9496AF82C08C}"/>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0967ED50-D307-586E-F98B-5BCA2A6608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9B4E1E64-3D36-1FCF-7841-679C1B8A72C8}"/>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2C522B6B-3674-1F94-2EFA-C284FEC56E84}"/>
              </a:ext>
            </a:extLst>
          </p:cNvPr>
          <p:cNvSpPr txBox="1"/>
          <p:nvPr/>
        </p:nvSpPr>
        <p:spPr>
          <a:xfrm>
            <a:off x="0" y="1156347"/>
            <a:ext cx="12192000" cy="1384995"/>
          </a:xfrm>
          <a:prstGeom prst="rect">
            <a:avLst/>
          </a:prstGeom>
          <a:noFill/>
        </p:spPr>
        <p:txBody>
          <a:bodyPr wrap="square" rtlCol="0">
            <a:spAutoFit/>
          </a:bodyPr>
          <a:lstStyle/>
          <a:p>
            <a:r>
              <a:rPr lang="en-US" sz="2800" b="1" dirty="0">
                <a:solidFill>
                  <a:schemeClr val="bg1"/>
                </a:solidFill>
              </a:rPr>
              <a:t>1-Overview</a:t>
            </a:r>
          </a:p>
          <a:p>
            <a:r>
              <a:rPr lang="en-US" sz="2800" dirty="0">
                <a:solidFill>
                  <a:schemeClr val="bg1"/>
                </a:solidFill>
              </a:rPr>
              <a:t>You are required to load the data from a given file, then pre-process the data then perform data fitting to find the original function equation and parameters.</a:t>
            </a:r>
          </a:p>
        </p:txBody>
      </p:sp>
      <p:sp>
        <p:nvSpPr>
          <p:cNvPr id="7" name="TextBox 6">
            <a:extLst>
              <a:ext uri="{FF2B5EF4-FFF2-40B4-BE49-F238E27FC236}">
                <a16:creationId xmlns:a16="http://schemas.microsoft.com/office/drawing/2014/main" id="{41CA3D8D-C366-27B5-5B18-6ADC21FBEDD0}"/>
              </a:ext>
            </a:extLst>
          </p:cNvPr>
          <p:cNvSpPr txBox="1"/>
          <p:nvPr/>
        </p:nvSpPr>
        <p:spPr>
          <a:xfrm>
            <a:off x="0" y="2732492"/>
            <a:ext cx="12192000" cy="2246769"/>
          </a:xfrm>
          <a:prstGeom prst="rect">
            <a:avLst/>
          </a:prstGeom>
          <a:noFill/>
        </p:spPr>
        <p:txBody>
          <a:bodyPr wrap="square" rtlCol="0">
            <a:spAutoFit/>
          </a:bodyPr>
          <a:lstStyle/>
          <a:p>
            <a:r>
              <a:rPr lang="en-US" sz="2800" b="1" dirty="0">
                <a:solidFill>
                  <a:schemeClr val="bg1"/>
                </a:solidFill>
              </a:rPr>
              <a:t>2-Data loading</a:t>
            </a:r>
          </a:p>
          <a:p>
            <a:r>
              <a:rPr lang="en-US" sz="2800" dirty="0">
                <a:solidFill>
                  <a:schemeClr val="bg1"/>
                </a:solidFill>
              </a:rPr>
              <a:t>The data will be provided through a (.csv) file, with two nameless columns, you are required through data importing app in MATLAB to give a name to each column and then importing it as a table or matrix, generating a data importing script in the process </a:t>
            </a:r>
          </a:p>
        </p:txBody>
      </p:sp>
    </p:spTree>
    <p:extLst>
      <p:ext uri="{BB962C8B-B14F-4D97-AF65-F5344CB8AC3E}">
        <p14:creationId xmlns:p14="http://schemas.microsoft.com/office/powerpoint/2010/main" val="280152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4A9B1-3845-D8C0-7F77-78A416885541}"/>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17F4E886-5B81-A649-C1E6-8F06FABF79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9BC0C076-BFA4-263F-64F2-F13E188B956B}"/>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F61A93E3-2D85-C4E9-E8AE-F88CC5B74AFA}"/>
              </a:ext>
            </a:extLst>
          </p:cNvPr>
          <p:cNvSpPr txBox="1"/>
          <p:nvPr/>
        </p:nvSpPr>
        <p:spPr>
          <a:xfrm>
            <a:off x="0" y="1156347"/>
            <a:ext cx="12192000" cy="1815882"/>
          </a:xfrm>
          <a:prstGeom prst="rect">
            <a:avLst/>
          </a:prstGeom>
          <a:noFill/>
        </p:spPr>
        <p:txBody>
          <a:bodyPr wrap="square" rtlCol="0">
            <a:spAutoFit/>
          </a:bodyPr>
          <a:lstStyle/>
          <a:p>
            <a:r>
              <a:rPr lang="en-US" sz="2800" b="1" dirty="0">
                <a:solidFill>
                  <a:schemeClr val="bg1"/>
                </a:solidFill>
              </a:rPr>
              <a:t>3-Data filtering</a:t>
            </a:r>
          </a:p>
          <a:p>
            <a:r>
              <a:rPr lang="en-US" sz="2800" dirty="0">
                <a:solidFill>
                  <a:schemeClr val="bg1"/>
                </a:solidFill>
              </a:rPr>
              <a:t>The data contains two modes of noise, random noise, and a constant frequency noise, you are required to perform FFT to identify noise frequency then apply a low pass filter to eject the noise.</a:t>
            </a:r>
          </a:p>
        </p:txBody>
      </p:sp>
      <p:sp>
        <p:nvSpPr>
          <p:cNvPr id="7" name="TextBox 6">
            <a:extLst>
              <a:ext uri="{FF2B5EF4-FFF2-40B4-BE49-F238E27FC236}">
                <a16:creationId xmlns:a16="http://schemas.microsoft.com/office/drawing/2014/main" id="{2324808C-1BDB-470D-311A-68F820D357BC}"/>
              </a:ext>
            </a:extLst>
          </p:cNvPr>
          <p:cNvSpPr txBox="1"/>
          <p:nvPr/>
        </p:nvSpPr>
        <p:spPr>
          <a:xfrm>
            <a:off x="0" y="2972229"/>
            <a:ext cx="12192000" cy="2246769"/>
          </a:xfrm>
          <a:prstGeom prst="rect">
            <a:avLst/>
          </a:prstGeom>
          <a:noFill/>
        </p:spPr>
        <p:txBody>
          <a:bodyPr wrap="square" rtlCol="0">
            <a:spAutoFit/>
          </a:bodyPr>
          <a:lstStyle/>
          <a:p>
            <a:r>
              <a:rPr lang="en-US" sz="2800" b="1" dirty="0">
                <a:solidFill>
                  <a:schemeClr val="bg1"/>
                </a:solidFill>
              </a:rPr>
              <a:t>4-Data fitting</a:t>
            </a:r>
          </a:p>
          <a:p>
            <a:r>
              <a:rPr lang="en-US" sz="2800" dirty="0">
                <a:solidFill>
                  <a:schemeClr val="bg1"/>
                </a:solidFill>
              </a:rPr>
              <a:t>After removing the constant frequency noise, you are required to identify the equation and parameters representing the data using curve fitter app, divide the data into fitting (training) and validation, with a ratio of 30% of data used for validation </a:t>
            </a:r>
          </a:p>
        </p:txBody>
      </p:sp>
    </p:spTree>
    <p:extLst>
      <p:ext uri="{BB962C8B-B14F-4D97-AF65-F5344CB8AC3E}">
        <p14:creationId xmlns:p14="http://schemas.microsoft.com/office/powerpoint/2010/main" val="373057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69D12-8AC7-16AA-AF49-3444AF9CACE3}"/>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49CDC30A-CEE6-09C1-B7F9-D3C34610B7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5382E315-7543-8D7E-AD1A-C59442A70279}"/>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E86FD223-E0C6-C6D1-EB80-0C6B25AF2943}"/>
              </a:ext>
            </a:extLst>
          </p:cNvPr>
          <p:cNvSpPr txBox="1"/>
          <p:nvPr/>
        </p:nvSpPr>
        <p:spPr>
          <a:xfrm>
            <a:off x="0" y="546089"/>
            <a:ext cx="12192000" cy="2677656"/>
          </a:xfrm>
          <a:prstGeom prst="rect">
            <a:avLst/>
          </a:prstGeom>
          <a:noFill/>
        </p:spPr>
        <p:txBody>
          <a:bodyPr wrap="square" rtlCol="0">
            <a:spAutoFit/>
          </a:bodyPr>
          <a:lstStyle/>
          <a:p>
            <a:r>
              <a:rPr lang="en-US" sz="2800" b="1" dirty="0">
                <a:solidFill>
                  <a:schemeClr val="bg1"/>
                </a:solidFill>
              </a:rPr>
              <a:t>5-Exporting results</a:t>
            </a:r>
          </a:p>
          <a:p>
            <a:r>
              <a:rPr lang="en-US" sz="2800" dirty="0">
                <a:solidFill>
                  <a:schemeClr val="bg1"/>
                </a:solidFill>
              </a:rPr>
              <a:t>After successfully fitting the curve use export to MATLAB option and save the three variables generated by the app in a (.mat) file :</a:t>
            </a:r>
          </a:p>
          <a:p>
            <a:r>
              <a:rPr lang="en-US" sz="2800" dirty="0">
                <a:solidFill>
                  <a:schemeClr val="bg1"/>
                </a:solidFill>
              </a:rPr>
              <a:t>-output</a:t>
            </a:r>
          </a:p>
          <a:p>
            <a:r>
              <a:rPr lang="en-US" sz="2800" dirty="0">
                <a:solidFill>
                  <a:schemeClr val="bg1"/>
                </a:solidFill>
              </a:rPr>
              <a:t>-goodness</a:t>
            </a:r>
          </a:p>
          <a:p>
            <a:r>
              <a:rPr lang="en-US" sz="2800" dirty="0">
                <a:solidFill>
                  <a:schemeClr val="bg1"/>
                </a:solidFill>
              </a:rPr>
              <a:t>-</a:t>
            </a:r>
            <a:r>
              <a:rPr lang="en-US" sz="2800" dirty="0" err="1">
                <a:solidFill>
                  <a:schemeClr val="bg1"/>
                </a:solidFill>
              </a:rPr>
              <a:t>fittedmodel</a:t>
            </a:r>
            <a:r>
              <a:rPr lang="en-US" sz="2800" dirty="0">
                <a:solidFill>
                  <a:schemeClr val="bg1"/>
                </a:solidFill>
              </a:rPr>
              <a:t> </a:t>
            </a:r>
          </a:p>
        </p:txBody>
      </p:sp>
      <p:pic>
        <p:nvPicPr>
          <p:cNvPr id="10" name="Picture 9">
            <a:extLst>
              <a:ext uri="{FF2B5EF4-FFF2-40B4-BE49-F238E27FC236}">
                <a16:creationId xmlns:a16="http://schemas.microsoft.com/office/drawing/2014/main" id="{A3518B4C-F01C-BAFC-C38C-B382F2E73D1E}"/>
              </a:ext>
            </a:extLst>
          </p:cNvPr>
          <p:cNvPicPr>
            <a:picLocks noChangeAspect="1"/>
          </p:cNvPicPr>
          <p:nvPr/>
        </p:nvPicPr>
        <p:blipFill>
          <a:blip r:embed="rId3">
            <a:extLst>
              <a:ext uri="{28A0092B-C50C-407E-A947-70E740481C1C}">
                <a14:useLocalDpi xmlns:a14="http://schemas.microsoft.com/office/drawing/2010/main" val="0"/>
              </a:ext>
            </a:extLst>
          </a:blip>
          <a:srcRect l="-272" t="218" r="3166" b="26599"/>
          <a:stretch>
            <a:fillRect/>
          </a:stretch>
        </p:blipFill>
        <p:spPr>
          <a:xfrm>
            <a:off x="2949677" y="2020959"/>
            <a:ext cx="9242323" cy="3918090"/>
          </a:xfrm>
          <a:prstGeom prst="rect">
            <a:avLst/>
          </a:prstGeom>
        </p:spPr>
      </p:pic>
      <p:sp>
        <p:nvSpPr>
          <p:cNvPr id="11" name="Rectangle 10">
            <a:extLst>
              <a:ext uri="{FF2B5EF4-FFF2-40B4-BE49-F238E27FC236}">
                <a16:creationId xmlns:a16="http://schemas.microsoft.com/office/drawing/2014/main" id="{879305CD-D98F-D322-8296-0C9EC54C5880}"/>
              </a:ext>
            </a:extLst>
          </p:cNvPr>
          <p:cNvSpPr/>
          <p:nvPr/>
        </p:nvSpPr>
        <p:spPr>
          <a:xfrm>
            <a:off x="8888361" y="2290916"/>
            <a:ext cx="550607" cy="5702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9EA4B1CC-3AB0-08BB-FBD8-9AD0145F8693}"/>
              </a:ext>
            </a:extLst>
          </p:cNvPr>
          <p:cNvCxnSpPr>
            <a:cxnSpLocks/>
            <a:endCxn id="11" idx="1"/>
          </p:cNvCxnSpPr>
          <p:nvPr/>
        </p:nvCxnSpPr>
        <p:spPr>
          <a:xfrm flipV="1">
            <a:off x="7796981" y="2576052"/>
            <a:ext cx="1091380" cy="41541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423D89C1-ED50-357E-FBCB-D655978B3650}"/>
              </a:ext>
            </a:extLst>
          </p:cNvPr>
          <p:cNvSpPr/>
          <p:nvPr/>
        </p:nvSpPr>
        <p:spPr>
          <a:xfrm>
            <a:off x="8971418" y="3429001"/>
            <a:ext cx="2163097" cy="40500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D0AB558E-6F45-1377-85B3-CE5AE4550F0A}"/>
              </a:ext>
            </a:extLst>
          </p:cNvPr>
          <p:cNvCxnSpPr>
            <a:cxnSpLocks/>
            <a:endCxn id="17" idx="1"/>
          </p:cNvCxnSpPr>
          <p:nvPr/>
        </p:nvCxnSpPr>
        <p:spPr>
          <a:xfrm>
            <a:off x="8013290" y="3559277"/>
            <a:ext cx="958128" cy="7222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00BD39BC-D054-80C4-39BD-0672CBCFA7FC}"/>
              </a:ext>
            </a:extLst>
          </p:cNvPr>
          <p:cNvSpPr txBox="1"/>
          <p:nvPr/>
        </p:nvSpPr>
        <p:spPr>
          <a:xfrm>
            <a:off x="7511846" y="2854413"/>
            <a:ext cx="285135" cy="369332"/>
          </a:xfrm>
          <a:prstGeom prst="rect">
            <a:avLst/>
          </a:prstGeom>
          <a:noFill/>
        </p:spPr>
        <p:txBody>
          <a:bodyPr wrap="square" rtlCol="0">
            <a:spAutoFit/>
          </a:bodyPr>
          <a:lstStyle/>
          <a:p>
            <a:r>
              <a:rPr lang="en-US" dirty="0">
                <a:solidFill>
                  <a:srgbClr val="FF0000"/>
                </a:solidFill>
              </a:rPr>
              <a:t>1</a:t>
            </a:r>
          </a:p>
        </p:txBody>
      </p:sp>
      <p:sp>
        <p:nvSpPr>
          <p:cNvPr id="24" name="TextBox 23">
            <a:extLst>
              <a:ext uri="{FF2B5EF4-FFF2-40B4-BE49-F238E27FC236}">
                <a16:creationId xmlns:a16="http://schemas.microsoft.com/office/drawing/2014/main" id="{0B7780AF-BA44-59BD-EF3C-71D3A4AE2FAA}"/>
              </a:ext>
            </a:extLst>
          </p:cNvPr>
          <p:cNvSpPr txBox="1"/>
          <p:nvPr/>
        </p:nvSpPr>
        <p:spPr>
          <a:xfrm>
            <a:off x="7728155" y="3374611"/>
            <a:ext cx="285135" cy="369332"/>
          </a:xfrm>
          <a:prstGeom prst="rect">
            <a:avLst/>
          </a:prstGeom>
          <a:noFill/>
        </p:spPr>
        <p:txBody>
          <a:bodyPr wrap="square" rtlCol="0">
            <a:spAutoFit/>
          </a:bodyPr>
          <a:lstStyle/>
          <a:p>
            <a:r>
              <a:rPr lang="en-US" dirty="0">
                <a:solidFill>
                  <a:srgbClr val="FF0000"/>
                </a:solidFill>
              </a:rPr>
              <a:t>2</a:t>
            </a:r>
          </a:p>
        </p:txBody>
      </p:sp>
    </p:spTree>
    <p:extLst>
      <p:ext uri="{BB962C8B-B14F-4D97-AF65-F5344CB8AC3E}">
        <p14:creationId xmlns:p14="http://schemas.microsoft.com/office/powerpoint/2010/main" val="119890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5B32-CFC5-FEE8-5307-D0248246F0B7}"/>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D4414C98-6C20-A4CA-01D8-75E0B7FDD9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6FBAACBA-7AF0-C140-A368-C211156A8C8E}"/>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6E6C3967-D4F9-182C-8E41-3CB31319CC5F}"/>
              </a:ext>
            </a:extLst>
          </p:cNvPr>
          <p:cNvSpPr txBox="1"/>
          <p:nvPr/>
        </p:nvSpPr>
        <p:spPr>
          <a:xfrm>
            <a:off x="0" y="546089"/>
            <a:ext cx="12192000" cy="954107"/>
          </a:xfrm>
          <a:prstGeom prst="rect">
            <a:avLst/>
          </a:prstGeom>
          <a:noFill/>
        </p:spPr>
        <p:txBody>
          <a:bodyPr wrap="square" rtlCol="0">
            <a:spAutoFit/>
          </a:bodyPr>
          <a:lstStyle/>
          <a:p>
            <a:r>
              <a:rPr lang="en-US" sz="2800" b="1" dirty="0">
                <a:solidFill>
                  <a:schemeClr val="bg1"/>
                </a:solidFill>
              </a:rPr>
              <a:t>5-Exporting results</a:t>
            </a:r>
          </a:p>
          <a:p>
            <a:r>
              <a:rPr lang="en-US" sz="2800" dirty="0">
                <a:solidFill>
                  <a:schemeClr val="bg1"/>
                </a:solidFill>
              </a:rPr>
              <a:t>Make sure all checkboxes for variables needed are checked</a:t>
            </a:r>
          </a:p>
        </p:txBody>
      </p:sp>
      <p:pic>
        <p:nvPicPr>
          <p:cNvPr id="8" name="Picture 7">
            <a:extLst>
              <a:ext uri="{FF2B5EF4-FFF2-40B4-BE49-F238E27FC236}">
                <a16:creationId xmlns:a16="http://schemas.microsoft.com/office/drawing/2014/main" id="{1068D4AF-23D5-1693-CFB4-1EF41A6C8181}"/>
              </a:ext>
            </a:extLst>
          </p:cNvPr>
          <p:cNvPicPr>
            <a:picLocks noChangeAspect="1"/>
          </p:cNvPicPr>
          <p:nvPr/>
        </p:nvPicPr>
        <p:blipFill>
          <a:blip r:embed="rId3"/>
          <a:srcRect l="1315" b="2796"/>
          <a:stretch>
            <a:fillRect/>
          </a:stretch>
        </p:blipFill>
        <p:spPr>
          <a:xfrm>
            <a:off x="2861187" y="1915694"/>
            <a:ext cx="6557000" cy="2734964"/>
          </a:xfrm>
          <a:prstGeom prst="rect">
            <a:avLst/>
          </a:prstGeom>
        </p:spPr>
      </p:pic>
      <p:sp>
        <p:nvSpPr>
          <p:cNvPr id="2" name="Rectangle 1">
            <a:extLst>
              <a:ext uri="{FF2B5EF4-FFF2-40B4-BE49-F238E27FC236}">
                <a16:creationId xmlns:a16="http://schemas.microsoft.com/office/drawing/2014/main" id="{9DB1F099-7D53-DEF7-419C-388CF483AA35}"/>
              </a:ext>
            </a:extLst>
          </p:cNvPr>
          <p:cNvSpPr/>
          <p:nvPr/>
        </p:nvSpPr>
        <p:spPr>
          <a:xfrm>
            <a:off x="3028335" y="2487561"/>
            <a:ext cx="550607" cy="16124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9511D7C-1BAA-AEF0-8A5C-568CF1743F3F}"/>
              </a:ext>
            </a:extLst>
          </p:cNvPr>
          <p:cNvCxnSpPr>
            <a:cxnSpLocks/>
            <a:endCxn id="2" idx="1"/>
          </p:cNvCxnSpPr>
          <p:nvPr/>
        </p:nvCxnSpPr>
        <p:spPr>
          <a:xfrm flipV="1">
            <a:off x="1533832" y="3293807"/>
            <a:ext cx="1494503" cy="54077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7993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DF5F-7EB5-64FF-36F0-E93D04F466FA}"/>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96B6D695-5015-3F67-0432-48F7E4F441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7DFFB77B-6C93-FCBC-A0CE-1544E3763A5B}"/>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B21E2B67-6F03-F656-21CC-FB589289ED4D}"/>
              </a:ext>
            </a:extLst>
          </p:cNvPr>
          <p:cNvSpPr txBox="1"/>
          <p:nvPr/>
        </p:nvSpPr>
        <p:spPr>
          <a:xfrm>
            <a:off x="0" y="546089"/>
            <a:ext cx="12192000" cy="1384995"/>
          </a:xfrm>
          <a:prstGeom prst="rect">
            <a:avLst/>
          </a:prstGeom>
          <a:noFill/>
        </p:spPr>
        <p:txBody>
          <a:bodyPr wrap="square" rtlCol="0">
            <a:spAutoFit/>
          </a:bodyPr>
          <a:lstStyle/>
          <a:p>
            <a:r>
              <a:rPr lang="en-US" sz="2800" b="1" dirty="0">
                <a:solidFill>
                  <a:schemeClr val="bg1"/>
                </a:solidFill>
              </a:rPr>
              <a:t>6-Code organization</a:t>
            </a:r>
          </a:p>
          <a:p>
            <a:r>
              <a:rPr lang="en-US" sz="2800" dirty="0">
                <a:solidFill>
                  <a:schemeClr val="bg1"/>
                </a:solidFill>
              </a:rPr>
              <a:t>Do all the work in a live a script, you can use the following format for organization</a:t>
            </a:r>
          </a:p>
        </p:txBody>
      </p:sp>
      <p:pic>
        <p:nvPicPr>
          <p:cNvPr id="10" name="Picture 9">
            <a:extLst>
              <a:ext uri="{FF2B5EF4-FFF2-40B4-BE49-F238E27FC236}">
                <a16:creationId xmlns:a16="http://schemas.microsoft.com/office/drawing/2014/main" id="{99107A44-2D2D-B5AE-9CAC-CCF91C1155D0}"/>
              </a:ext>
            </a:extLst>
          </p:cNvPr>
          <p:cNvPicPr>
            <a:picLocks noChangeAspect="1"/>
          </p:cNvPicPr>
          <p:nvPr/>
        </p:nvPicPr>
        <p:blipFill>
          <a:blip r:embed="rId3"/>
          <a:srcRect t="630" b="26542"/>
          <a:stretch>
            <a:fillRect/>
          </a:stretch>
        </p:blipFill>
        <p:spPr>
          <a:xfrm>
            <a:off x="2129447" y="1809134"/>
            <a:ext cx="7933107" cy="3890507"/>
          </a:xfrm>
          <a:prstGeom prst="rect">
            <a:avLst/>
          </a:prstGeom>
        </p:spPr>
      </p:pic>
    </p:spTree>
    <p:extLst>
      <p:ext uri="{BB962C8B-B14F-4D97-AF65-F5344CB8AC3E}">
        <p14:creationId xmlns:p14="http://schemas.microsoft.com/office/powerpoint/2010/main" val="380317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3C2E-70ED-0775-7E81-D00AE6453647}"/>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0B70C54C-8DA6-4F26-619B-2C5705CF2F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TextBox 2">
            <a:extLst>
              <a:ext uri="{FF2B5EF4-FFF2-40B4-BE49-F238E27FC236}">
                <a16:creationId xmlns:a16="http://schemas.microsoft.com/office/drawing/2014/main" id="{99244565-D717-207F-E218-AB43FBD4F4F1}"/>
              </a:ext>
            </a:extLst>
          </p:cNvPr>
          <p:cNvSpPr txBox="1"/>
          <p:nvPr/>
        </p:nvSpPr>
        <p:spPr>
          <a:xfrm>
            <a:off x="3773127" y="130591"/>
            <a:ext cx="4645744" cy="830997"/>
          </a:xfrm>
          <a:prstGeom prst="rect">
            <a:avLst/>
          </a:prstGeom>
          <a:noFill/>
        </p:spPr>
        <p:txBody>
          <a:bodyPr wrap="square" rtlCol="0">
            <a:spAutoFit/>
          </a:bodyPr>
          <a:lstStyle/>
          <a:p>
            <a:pPr algn="ctr"/>
            <a:r>
              <a:rPr lang="en-US" sz="4800" b="1" dirty="0">
                <a:solidFill>
                  <a:srgbClr val="FF0000"/>
                </a:solidFill>
              </a:rPr>
              <a:t>Task</a:t>
            </a:r>
          </a:p>
        </p:txBody>
      </p:sp>
      <p:sp>
        <p:nvSpPr>
          <p:cNvPr id="4" name="TextBox 3">
            <a:extLst>
              <a:ext uri="{FF2B5EF4-FFF2-40B4-BE49-F238E27FC236}">
                <a16:creationId xmlns:a16="http://schemas.microsoft.com/office/drawing/2014/main" id="{B9A6B5B4-1C18-771B-9F27-ADB875910635}"/>
              </a:ext>
            </a:extLst>
          </p:cNvPr>
          <p:cNvSpPr txBox="1"/>
          <p:nvPr/>
        </p:nvSpPr>
        <p:spPr>
          <a:xfrm>
            <a:off x="0" y="961588"/>
            <a:ext cx="12192000" cy="2246769"/>
          </a:xfrm>
          <a:prstGeom prst="rect">
            <a:avLst/>
          </a:prstGeom>
          <a:noFill/>
        </p:spPr>
        <p:txBody>
          <a:bodyPr wrap="square" rtlCol="0">
            <a:spAutoFit/>
          </a:bodyPr>
          <a:lstStyle/>
          <a:p>
            <a:r>
              <a:rPr lang="en-US" sz="2800" b="1" dirty="0">
                <a:solidFill>
                  <a:schemeClr val="bg1"/>
                </a:solidFill>
              </a:rPr>
              <a:t>7-Summary submission</a:t>
            </a:r>
          </a:p>
          <a:p>
            <a:r>
              <a:rPr lang="en-US" sz="2800" dirty="0">
                <a:solidFill>
                  <a:schemeClr val="bg1"/>
                </a:solidFill>
              </a:rPr>
              <a:t>To summarize you are required to submit a </a:t>
            </a:r>
            <a:r>
              <a:rPr lang="en-US" sz="2800">
                <a:solidFill>
                  <a:schemeClr val="bg1"/>
                </a:solidFill>
              </a:rPr>
              <a:t>(.zip) </a:t>
            </a:r>
            <a:r>
              <a:rPr lang="en-US" sz="2800" dirty="0">
                <a:solidFill>
                  <a:schemeClr val="bg1"/>
                </a:solidFill>
              </a:rPr>
              <a:t>file containing:</a:t>
            </a:r>
          </a:p>
          <a:p>
            <a:pPr marL="457200" indent="-457200">
              <a:buFont typeface="Arial" panose="020B0604020202020204" pitchFamily="34" charset="0"/>
              <a:buChar char="•"/>
            </a:pPr>
            <a:r>
              <a:rPr lang="en-US" sz="2800" dirty="0">
                <a:solidFill>
                  <a:schemeClr val="bg1"/>
                </a:solidFill>
              </a:rPr>
              <a:t>The live script (.mlx)</a:t>
            </a:r>
          </a:p>
          <a:p>
            <a:pPr marL="457200" indent="-457200">
              <a:buFont typeface="Arial" panose="020B0604020202020204" pitchFamily="34" charset="0"/>
              <a:buChar char="•"/>
            </a:pPr>
            <a:r>
              <a:rPr lang="en-US" sz="2800" dirty="0">
                <a:solidFill>
                  <a:schemeClr val="bg1"/>
                </a:solidFill>
              </a:rPr>
              <a:t>Data importing script (.m)</a:t>
            </a:r>
          </a:p>
          <a:p>
            <a:pPr marL="457200" indent="-457200">
              <a:buFont typeface="Arial" panose="020B0604020202020204" pitchFamily="34" charset="0"/>
              <a:buChar char="•"/>
            </a:pPr>
            <a:r>
              <a:rPr lang="en-US" sz="2800" dirty="0">
                <a:solidFill>
                  <a:schemeClr val="bg1"/>
                </a:solidFill>
              </a:rPr>
              <a:t>Workspace file (.mat)</a:t>
            </a:r>
          </a:p>
        </p:txBody>
      </p:sp>
    </p:spTree>
    <p:extLst>
      <p:ext uri="{BB962C8B-B14F-4D97-AF65-F5344CB8AC3E}">
        <p14:creationId xmlns:p14="http://schemas.microsoft.com/office/powerpoint/2010/main" val="336298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1E474-BEC1-D686-FC5C-323390384787}"/>
            </a:ext>
          </a:extLst>
        </p:cNvPr>
        <p:cNvGrpSpPr/>
        <p:nvPr/>
      </p:nvGrpSpPr>
      <p:grpSpPr>
        <a:xfrm>
          <a:off x="0" y="0"/>
          <a:ext cx="0" cy="0"/>
          <a:chOff x="0" y="0"/>
          <a:chExt cx="0" cy="0"/>
        </a:xfrm>
      </p:grpSpPr>
      <p:pic>
        <p:nvPicPr>
          <p:cNvPr id="6" name="Picture 5" descr="A logo with a star and wings&#10;&#10;Description automatically generated with low confidence">
            <a:extLst>
              <a:ext uri="{FF2B5EF4-FFF2-40B4-BE49-F238E27FC236}">
                <a16:creationId xmlns:a16="http://schemas.microsoft.com/office/drawing/2014/main" id="{709224E7-DC9F-52B0-7643-14EACF5D71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9985" y="6050010"/>
            <a:ext cx="1452029" cy="677399"/>
          </a:xfrm>
          <a:prstGeom prst="rect">
            <a:avLst/>
          </a:prstGeom>
        </p:spPr>
      </p:pic>
      <p:sp>
        <p:nvSpPr>
          <p:cNvPr id="3" name="Rectangle 2">
            <a:extLst>
              <a:ext uri="{FF2B5EF4-FFF2-40B4-BE49-F238E27FC236}">
                <a16:creationId xmlns:a16="http://schemas.microsoft.com/office/drawing/2014/main" id="{B40029C4-DA7C-2DA5-4E42-CD64C57E0E57}"/>
              </a:ext>
            </a:extLst>
          </p:cNvPr>
          <p:cNvSpPr/>
          <p:nvPr/>
        </p:nvSpPr>
        <p:spPr>
          <a:xfrm>
            <a:off x="1503801" y="2508250"/>
            <a:ext cx="9184398" cy="184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6600" dirty="0">
                <a:latin typeface="Arial Black" pitchFamily="34" charset="0"/>
              </a:rPr>
              <a:t>Thank you!</a:t>
            </a:r>
            <a:endParaRPr lang="ar-EG" sz="6600" dirty="0">
              <a:latin typeface="Arial Black" pitchFamily="34" charset="0"/>
            </a:endParaRPr>
          </a:p>
        </p:txBody>
      </p:sp>
    </p:spTree>
    <p:extLst>
      <p:ext uri="{BB962C8B-B14F-4D97-AF65-F5344CB8AC3E}">
        <p14:creationId xmlns:p14="http://schemas.microsoft.com/office/powerpoint/2010/main" val="2124367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4317</TotalTime>
  <Words>558</Words>
  <Application>Microsoft Office PowerPoint</Application>
  <PresentationFormat>Widescreen</PresentationFormat>
  <Paragraphs>86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Hazem Ahmed Khairy Ahmed Abd El Halim 2200398</dc:creator>
  <cp:lastModifiedBy>youssef ahmed abdelfatah 2101059</cp:lastModifiedBy>
  <cp:revision>49</cp:revision>
  <dcterms:created xsi:type="dcterms:W3CDTF">2025-11-15T13:40:51Z</dcterms:created>
  <dcterms:modified xsi:type="dcterms:W3CDTF">2026-06-19T19:52:14Z</dcterms:modified>
</cp:coreProperties>
</file>