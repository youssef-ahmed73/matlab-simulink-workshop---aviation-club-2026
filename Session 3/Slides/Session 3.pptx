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45" r:id="rId3"/>
    <p:sldId id="378" r:id="rId4"/>
    <p:sldId id="364" r:id="rId5"/>
    <p:sldId id="344" r:id="rId6"/>
    <p:sldId id="365" r:id="rId7"/>
    <p:sldId id="367" r:id="rId8"/>
    <p:sldId id="366" r:id="rId9"/>
    <p:sldId id="368" r:id="rId10"/>
    <p:sldId id="369" r:id="rId11"/>
    <p:sldId id="370" r:id="rId12"/>
    <p:sldId id="353" r:id="rId13"/>
    <p:sldId id="371" r:id="rId14"/>
    <p:sldId id="372" r:id="rId15"/>
    <p:sldId id="374" r:id="rId16"/>
    <p:sldId id="373" r:id="rId17"/>
    <p:sldId id="375" r:id="rId18"/>
    <p:sldId id="377" r:id="rId19"/>
    <p:sldId id="376" r:id="rId20"/>
    <p:sldId id="31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3DD02-2584-1AAC-83C8-62D67E8B4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B68-7274-88AB-3F14-07D743D48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D2324-BD45-6AA3-CD5F-5E27A887F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DA4AD-D779-529A-819E-6D267D055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83CB4-F636-CC31-CD70-13BCE9A68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677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C2046-C550-D253-445C-BA4B7C195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11EBC-5B39-8D4A-B01A-F0C0274B0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5CE9D-C450-8553-3E19-BC52CFB46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2A560-0F58-1E36-5242-EED744944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CFD4B-7965-9C58-EFE0-3813636F0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316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012E7-0B7F-5753-0E1C-4C43BFEF9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39B6C-E0C0-B19D-8FDA-FA2A3E4F3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D4BF1-73A3-69AF-B669-9B352F7B6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BF22C-C3DC-D44C-3CCE-8984BA68D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56D49-6066-C1C3-21AB-8F722B290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83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3717-60AF-C232-A6B9-B5D777335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B6B95-1260-2D7D-2684-97ACCEE68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F21EE-6D6D-6B7E-0C5C-8BEEF1859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451CE-0D65-E4A1-5D0D-8CC39854B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0E3C1-A303-F3C0-7586-DA3F1AE27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DAE34-4DD4-D015-4031-D412358C9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07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5DD7A-4260-78FC-3326-2A87FA752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8E180-D4DC-5BC0-D8B3-ED8F6774F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0D10E-437C-0060-D7F7-8C99542A8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B32A8-E91F-39FA-413B-7FCCAD2C99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8DF749-5CC8-46B2-9541-7BB9AF1C6A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36BC06-DACC-26F6-E897-C57364288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D9F1C2-1EA9-C40E-C9A2-FA15D0D4E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7A6EE-FBCD-A0E4-F1AC-A9B9857C0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555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081F7-1C72-ECA9-242A-81DC2F37A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E3F5E-3A4F-EF1F-ABFD-39F5D0E2A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01FA7-33C3-86CB-374B-05C8ECC95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65599-FF8E-830E-6111-05BA00FB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36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CA4BEC-03DF-B331-F1B8-9E5B13541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ED20F9-60C1-6370-6A0A-627E924C1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60E87-38C1-64EB-2C05-596F2F23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72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4E93A-D9BA-E74E-FA97-3A96D363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4A949-81A7-7247-7DAC-C1B2C18DB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76E740-4624-EEA2-63A2-7A4FDA1E0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14C1D-84D3-1561-6248-6B520FCD1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0A0C4-369E-8396-6E32-4ED101AE4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908DFC-F4AD-0E71-F16A-6F16DDA42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5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6F9BC-C033-0369-1DB3-45B2C0259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5400EE-DCCD-AAB0-CF8E-4952318223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F69D4-C16D-DB1E-AC7F-535331881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3C061-B32E-666F-D3E2-DB0D8DF25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54E18-F6E3-C1ED-BFB7-470C6E181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76E64-82F4-8478-C80F-FBA592863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41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D3ECE-FE5B-CCD2-555A-70E6B3241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62C001-38C9-C6F9-BF11-F568C35BC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C23A-4235-A62D-D7F0-5636B8E22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FE783-41AE-D416-2BEB-5AF26E1EB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DEA82-009E-5447-81BE-9B09EA380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74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BB1CB6-E746-A8DE-6138-08D3D6542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7824F-7DA5-71C6-74B5-E7F19D162E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F5B94-8561-1659-8689-77B51FAE7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1A2BE-81D2-69C1-933C-6985CB3C6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DC380-2135-A757-178A-EA6538348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110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BAC917-FA00-FB8C-C9F4-96268EB80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87D31-0502-C954-F666-06C686893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F96DD-05A3-BB8C-578B-5563456C9D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5DA070-2934-4614-8D9D-0458B30AE12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4669E-A2AE-53D6-A2AE-DCC64113F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B2286-10BB-9DB6-0BE9-80BDBF395A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630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36F87B-08F8-87ED-A688-565048A361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 descr="A picture containing screenshot, space, darkness, flight&#10;&#10;Description automatically generated">
            <a:extLst>
              <a:ext uri="{FF2B5EF4-FFF2-40B4-BE49-F238E27FC236}">
                <a16:creationId xmlns:a16="http://schemas.microsoft.com/office/drawing/2014/main" id="{D85C521F-EF14-DF28-0AEB-D7544D24F7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253" y="-36094"/>
            <a:ext cx="12304295" cy="6908842"/>
          </a:xfrm>
          <a:prstGeom prst="rect">
            <a:avLst/>
          </a:prstGeom>
        </p:spPr>
      </p:pic>
      <p:pic>
        <p:nvPicPr>
          <p:cNvPr id="11" name="Picture 10" descr="A red text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8A1CCC7E-6F70-0C85-F260-EEC3D4193F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4653" y="101060"/>
            <a:ext cx="1913202" cy="11642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E040BF-C392-052B-5990-6368B148E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764" y="6276175"/>
            <a:ext cx="473540" cy="4735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F6409B-D42C-4D7E-A008-5B653A2362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2808" y="6276175"/>
            <a:ext cx="473541" cy="4800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2DBE55D-89D5-EB2E-8EEB-5AFCDE697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5286" y="6276175"/>
            <a:ext cx="473540" cy="4735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3F3262-6093-07CC-62A6-960FBA04FA2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382" y="1595137"/>
            <a:ext cx="5507023" cy="2569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565961-57E3-E87B-F2F6-43B5D745DF75}"/>
              </a:ext>
            </a:extLst>
          </p:cNvPr>
          <p:cNvSpPr txBox="1"/>
          <p:nvPr/>
        </p:nvSpPr>
        <p:spPr>
          <a:xfrm>
            <a:off x="0" y="5229812"/>
            <a:ext cx="44048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MATLAB &amp; Simulink workshop</a:t>
            </a:r>
          </a:p>
          <a:p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Made by: Youssef Ahmed</a:t>
            </a:r>
          </a:p>
        </p:txBody>
      </p:sp>
    </p:spTree>
    <p:extLst>
      <p:ext uri="{BB962C8B-B14F-4D97-AF65-F5344CB8AC3E}">
        <p14:creationId xmlns:p14="http://schemas.microsoft.com/office/powerpoint/2010/main" val="502464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DC94-B74C-B268-FAF7-CE9E1C43E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4A58BABB-4D76-9397-40E5-A43422F6AC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ACE80423-3437-84C2-6E7A-321813DDF0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6A28A4A-CE04-9DCD-38F7-93EEBE4F5EF9}"/>
              </a:ext>
            </a:extLst>
          </p:cNvPr>
          <p:cNvSpPr/>
          <p:nvPr/>
        </p:nvSpPr>
        <p:spPr>
          <a:xfrm>
            <a:off x="1503800" y="2315447"/>
            <a:ext cx="9184398" cy="1841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6600" dirty="0">
                <a:latin typeface="Arial Black" pitchFamily="34" charset="0"/>
              </a:rPr>
              <a:t>Matrices and functions</a:t>
            </a:r>
            <a:endParaRPr lang="ar-EG" sz="6600" dirty="0">
              <a:latin typeface="Arial Black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73A78-ED01-9591-9EC9-6786E75E0D9F}"/>
              </a:ext>
            </a:extLst>
          </p:cNvPr>
          <p:cNvSpPr txBox="1"/>
          <p:nvPr/>
        </p:nvSpPr>
        <p:spPr>
          <a:xfrm>
            <a:off x="3765106" y="0"/>
            <a:ext cx="4645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0000"/>
                </a:solidFill>
              </a:rPr>
              <a:t>Session 3</a:t>
            </a:r>
          </a:p>
        </p:txBody>
      </p:sp>
    </p:spTree>
    <p:extLst>
      <p:ext uri="{BB962C8B-B14F-4D97-AF65-F5344CB8AC3E}">
        <p14:creationId xmlns:p14="http://schemas.microsoft.com/office/powerpoint/2010/main" val="142935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22302-5FFA-752D-D15A-44F2F06F9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E9BEF2D8-8A81-6189-2944-3881469915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35D0656A-D9EC-6E0B-930A-CF52EF5581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pic>
        <p:nvPicPr>
          <p:cNvPr id="9" name="Picture 8" descr="A purple and white rectangle with blue text&#10;&#10;AI-generated content may be incorrect.">
            <a:extLst>
              <a:ext uri="{FF2B5EF4-FFF2-40B4-BE49-F238E27FC236}">
                <a16:creationId xmlns:a16="http://schemas.microsoft.com/office/drawing/2014/main" id="{68E512D6-6276-4388-EDAA-F0892353FA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21" t="7797" r="13367" b="8540"/>
          <a:stretch>
            <a:fillRect/>
          </a:stretch>
        </p:blipFill>
        <p:spPr>
          <a:xfrm>
            <a:off x="3185326" y="1656863"/>
            <a:ext cx="5805303" cy="39803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E228EB-9688-37C1-4194-7887ACB5C0BA}"/>
              </a:ext>
            </a:extLst>
          </p:cNvPr>
          <p:cNvSpPr txBox="1"/>
          <p:nvPr/>
        </p:nvSpPr>
        <p:spPr>
          <a:xfrm>
            <a:off x="1651495" y="199417"/>
            <a:ext cx="88890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0000"/>
                </a:solidFill>
              </a:rPr>
              <a:t>Last session recap</a:t>
            </a:r>
          </a:p>
        </p:txBody>
      </p:sp>
    </p:spTree>
    <p:extLst>
      <p:ext uri="{BB962C8B-B14F-4D97-AF65-F5344CB8AC3E}">
        <p14:creationId xmlns:p14="http://schemas.microsoft.com/office/powerpoint/2010/main" val="1513643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22302-5FFA-752D-D15A-44F2F06F9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E9BEF2D8-8A81-6189-2944-3881469915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35D0656A-D9EC-6E0B-930A-CF52EF5581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E228EB-9688-37C1-4194-7887ACB5C0BA}"/>
              </a:ext>
            </a:extLst>
          </p:cNvPr>
          <p:cNvSpPr txBox="1"/>
          <p:nvPr/>
        </p:nvSpPr>
        <p:spPr>
          <a:xfrm>
            <a:off x="1651495" y="199417"/>
            <a:ext cx="88890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0000"/>
                </a:solidFill>
              </a:rPr>
              <a:t>Part 1: matrices</a:t>
            </a:r>
          </a:p>
        </p:txBody>
      </p:sp>
      <p:pic>
        <p:nvPicPr>
          <p:cNvPr id="3" name="Picture 2" descr="A computer screen with numbers and a pin&#10;&#10;AI-generated content may be incorrect.">
            <a:extLst>
              <a:ext uri="{FF2B5EF4-FFF2-40B4-BE49-F238E27FC236}">
                <a16:creationId xmlns:a16="http://schemas.microsoft.com/office/drawing/2014/main" id="{3F3334E5-104A-DF10-237E-33A2EA2720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34"/>
          <a:stretch>
            <a:fillRect/>
          </a:stretch>
        </p:blipFill>
        <p:spPr>
          <a:xfrm>
            <a:off x="1730442" y="1515454"/>
            <a:ext cx="8715071" cy="44188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11807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27893-43FA-A97E-D7D2-AA06AC925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AE8E2E00-7DAC-21CB-185D-DE0468BDE1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1C9769AD-75E1-89C8-CF2D-8CF8385B97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46184B-FC07-0343-28E8-9C63ECD5C1FC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Matrices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333B3-6C32-E273-7554-48451BDC5E9E}"/>
              </a:ext>
            </a:extLst>
          </p:cNvPr>
          <p:cNvSpPr txBox="1"/>
          <p:nvPr/>
        </p:nvSpPr>
        <p:spPr>
          <a:xfrm>
            <a:off x="147483" y="1997693"/>
            <a:ext cx="494562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Remember the difference between: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Array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Matrix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Vector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Scalar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3200" b="1" dirty="0">
              <a:solidFill>
                <a:schemeClr val="bg1"/>
              </a:solidFill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C90C88-1865-9B3A-D43B-20F3E8BAFE5A}"/>
              </a:ext>
            </a:extLst>
          </p:cNvPr>
          <p:cNvSpPr txBox="1"/>
          <p:nvPr/>
        </p:nvSpPr>
        <p:spPr>
          <a:xfrm>
            <a:off x="4879839" y="961588"/>
            <a:ext cx="2416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Introduction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F67C3C-0FF2-32B5-4E8B-6B165AD2B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8664" y="1626952"/>
            <a:ext cx="6195853" cy="434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95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7A3BD-C33E-8EBF-86F2-9BB14202C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D223D98A-8DAC-049A-F4EF-562D4C5845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A5A828FC-325A-357F-103F-EBAAE67F17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555A21-3A1A-8CF1-DF28-0ED88FEC9892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Matrices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4C67F2-1423-2DAE-42F0-E1BB9648B663}"/>
              </a:ext>
            </a:extLst>
          </p:cNvPr>
          <p:cNvSpPr txBox="1"/>
          <p:nvPr/>
        </p:nvSpPr>
        <p:spPr>
          <a:xfrm>
            <a:off x="0" y="1546362"/>
            <a:ext cx="12240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Matrices have a lot of attributes that is used in linear algebra, we will focus on: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90EFEF-D8D2-066D-E8FF-5378F10E547F}"/>
              </a:ext>
            </a:extLst>
          </p:cNvPr>
          <p:cNvSpPr txBox="1"/>
          <p:nvPr/>
        </p:nvSpPr>
        <p:spPr>
          <a:xfrm>
            <a:off x="4755415" y="961587"/>
            <a:ext cx="26811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Linear algebra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2C2954-1762-1EFE-E485-6ABE80131E31}"/>
              </a:ext>
            </a:extLst>
          </p:cNvPr>
          <p:cNvSpPr txBox="1"/>
          <p:nvPr/>
        </p:nvSpPr>
        <p:spPr>
          <a:xfrm>
            <a:off x="0" y="2008026"/>
            <a:ext cx="37731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1-Matrix determinant </a:t>
            </a:r>
          </a:p>
        </p:txBody>
      </p:sp>
      <p:pic>
        <p:nvPicPr>
          <p:cNvPr id="10" name="Picture 9" descr="A math equations with text&#10;&#10;AI-generated content may be incorrect.">
            <a:extLst>
              <a:ext uri="{FF2B5EF4-FFF2-40B4-BE49-F238E27FC236}">
                <a16:creationId xmlns:a16="http://schemas.microsoft.com/office/drawing/2014/main" id="{0D769247-F93B-7F7B-FDA3-B57B4E92BB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211" y="2127670"/>
            <a:ext cx="5646695" cy="380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249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3A3E8-B19D-33FF-6592-2695B77E7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2F86D596-51A4-F2B0-6409-AB2923B37D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BB7F09D9-B209-4D76-EF17-9C3D347822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3C5DDC-0595-1538-09A9-755C03837263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Matrices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B4077A-480E-D3E9-5F8A-A137CFBBC243}"/>
              </a:ext>
            </a:extLst>
          </p:cNvPr>
          <p:cNvSpPr txBox="1"/>
          <p:nvPr/>
        </p:nvSpPr>
        <p:spPr>
          <a:xfrm>
            <a:off x="0" y="1546362"/>
            <a:ext cx="12240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Matrices have a lot of attributes that is used in linear algebra, we will focus on: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1201FB-777B-57FB-B2C4-845F74632C5C}"/>
              </a:ext>
            </a:extLst>
          </p:cNvPr>
          <p:cNvSpPr txBox="1"/>
          <p:nvPr/>
        </p:nvSpPr>
        <p:spPr>
          <a:xfrm>
            <a:off x="4755415" y="961587"/>
            <a:ext cx="26811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Linear algebra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01D122-12FE-405D-EACF-028CE51249D0}"/>
              </a:ext>
            </a:extLst>
          </p:cNvPr>
          <p:cNvSpPr txBox="1"/>
          <p:nvPr/>
        </p:nvSpPr>
        <p:spPr>
          <a:xfrm>
            <a:off x="0" y="2008026"/>
            <a:ext cx="37731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2-Matrix rank </a:t>
            </a:r>
          </a:p>
        </p:txBody>
      </p:sp>
      <p:pic>
        <p:nvPicPr>
          <p:cNvPr id="9" name="Picture 8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6913D6BB-162E-D02E-1D15-7906AD590B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142" y="2131136"/>
            <a:ext cx="5389311" cy="404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781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7074B-0BF0-FF61-4BFF-307E5BA39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0FA71C01-F8E3-E386-C0B0-BEBDB5C91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072D524B-01D2-EB00-7BF0-4B28BBD0D3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376BA2-14B5-B543-6151-68C585352DBB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Matrices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98D124-CFF5-4A8D-7CE2-D197BF43DA2E}"/>
              </a:ext>
            </a:extLst>
          </p:cNvPr>
          <p:cNvSpPr txBox="1"/>
          <p:nvPr/>
        </p:nvSpPr>
        <p:spPr>
          <a:xfrm>
            <a:off x="0" y="1546362"/>
            <a:ext cx="12240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What can we take from these attributes?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1F03A1-2583-D060-4E35-4C20640D96C9}"/>
              </a:ext>
            </a:extLst>
          </p:cNvPr>
          <p:cNvSpPr txBox="1"/>
          <p:nvPr/>
        </p:nvSpPr>
        <p:spPr>
          <a:xfrm>
            <a:off x="4755415" y="961587"/>
            <a:ext cx="26811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Linear algebra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7F82C3-F402-CF02-4953-8AAF22D5D6E6}"/>
              </a:ext>
            </a:extLst>
          </p:cNvPr>
          <p:cNvSpPr txBox="1"/>
          <p:nvPr/>
        </p:nvSpPr>
        <p:spPr>
          <a:xfrm>
            <a:off x="0" y="2008026"/>
            <a:ext cx="37731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Matrix singularity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D9E974-5E88-FF2A-EC09-2CAC5C709824}"/>
              </a:ext>
            </a:extLst>
          </p:cNvPr>
          <p:cNvSpPr txBox="1"/>
          <p:nvPr/>
        </p:nvSpPr>
        <p:spPr>
          <a:xfrm>
            <a:off x="0" y="2531246"/>
            <a:ext cx="122401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A matrix is called singular if it has no inverse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We can check matrix singularity by checking rank and determinant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If determinant=0 and matrix not full rank -&gt; matrix singular -&gt; no real inverse</a:t>
            </a:r>
          </a:p>
        </p:txBody>
      </p:sp>
    </p:spTree>
    <p:extLst>
      <p:ext uri="{BB962C8B-B14F-4D97-AF65-F5344CB8AC3E}">
        <p14:creationId xmlns:p14="http://schemas.microsoft.com/office/powerpoint/2010/main" val="1221014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EA8FC-BD45-FDE7-F16C-5AC80B92C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52739797-CC3D-257C-46A2-506293C3D4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55ABB70F-66D0-B147-8CE2-01872C05AF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B26959-D20C-68F1-932A-1885EC2235FF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Matrices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136888-78B3-5F46-0FB7-7E6E11033336}"/>
              </a:ext>
            </a:extLst>
          </p:cNvPr>
          <p:cNvSpPr txBox="1"/>
          <p:nvPr/>
        </p:nvSpPr>
        <p:spPr>
          <a:xfrm>
            <a:off x="4432648" y="961588"/>
            <a:ext cx="3326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Matrix operations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7EDBDD-7111-F4CC-0003-87C8F7127C85}"/>
              </a:ext>
            </a:extLst>
          </p:cNvPr>
          <p:cNvSpPr txBox="1"/>
          <p:nvPr/>
        </p:nvSpPr>
        <p:spPr>
          <a:xfrm>
            <a:off x="0" y="1484807"/>
            <a:ext cx="44326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Element wise vs matrix operations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E2A425-BC24-1D0F-F0A7-A9BC129B8107}"/>
              </a:ext>
            </a:extLst>
          </p:cNvPr>
          <p:cNvSpPr txBox="1"/>
          <p:nvPr/>
        </p:nvSpPr>
        <p:spPr>
          <a:xfrm>
            <a:off x="0" y="2438914"/>
            <a:ext cx="44326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With matrices two operation can be performed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</a:rPr>
              <a:t>Element wise (every element to other element 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</a:rPr>
              <a:t>Matrix wise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87D9A-5175-B41C-8AA1-FC42874B91B3}"/>
              </a:ext>
            </a:extLst>
          </p:cNvPr>
          <p:cNvSpPr txBox="1"/>
          <p:nvPr/>
        </p:nvSpPr>
        <p:spPr>
          <a:xfrm>
            <a:off x="-64169" y="4331996"/>
            <a:ext cx="34169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Example: matrix multiplication</a:t>
            </a:r>
          </a:p>
        </p:txBody>
      </p:sp>
      <p:pic>
        <p:nvPicPr>
          <p:cNvPr id="10" name="Picture 9" descr="A math equations with yellow squares&#10;&#10;AI-generated content may be incorrect.">
            <a:extLst>
              <a:ext uri="{FF2B5EF4-FFF2-40B4-BE49-F238E27FC236}">
                <a16:creationId xmlns:a16="http://schemas.microsoft.com/office/drawing/2014/main" id="{4F685C92-DCFF-DA99-B3E3-63470107F5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648" y="1655061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47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F3A61-D9EF-03B8-0BEF-3F51AC9BC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E5D0E97A-09A3-6E9F-3F23-5AC925C990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D1FCD02E-11C4-5D74-E876-475A9B9A82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278EB9-FC4A-2907-AE19-C876C24CE93E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Matrices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75DAC3-6209-5D67-3A59-BEF2017738D1}"/>
              </a:ext>
            </a:extLst>
          </p:cNvPr>
          <p:cNvSpPr txBox="1"/>
          <p:nvPr/>
        </p:nvSpPr>
        <p:spPr>
          <a:xfrm>
            <a:off x="4432648" y="961588"/>
            <a:ext cx="3326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Matrix operations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276136-29DA-EB50-46FC-0AF56C6D3500}"/>
              </a:ext>
            </a:extLst>
          </p:cNvPr>
          <p:cNvSpPr txBox="1"/>
          <p:nvPr/>
        </p:nvSpPr>
        <p:spPr>
          <a:xfrm>
            <a:off x="0" y="1484807"/>
            <a:ext cx="32544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Matrix transpose</a:t>
            </a:r>
          </a:p>
        </p:txBody>
      </p:sp>
      <p:pic>
        <p:nvPicPr>
          <p:cNvPr id="9" name="Picture 8" descr="A white background with green text&#10;&#10;AI-generated content may be incorrect.">
            <a:extLst>
              <a:ext uri="{FF2B5EF4-FFF2-40B4-BE49-F238E27FC236}">
                <a16:creationId xmlns:a16="http://schemas.microsoft.com/office/drawing/2014/main" id="{4A3430E6-A2BD-69F3-143C-255B3299D7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154" y="2046427"/>
            <a:ext cx="7633688" cy="38168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79119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62047-FD6C-0C5C-F8D0-8CB548E0E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7DB43DE8-EE91-8D0B-73BD-2FA4E5877C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9C05185C-8DCF-21B0-0EDE-148FFD5741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ED5BA5-8E21-531E-C5EB-17C27D9168C5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Matrices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ADAFEA-D49A-3750-0149-F8FE937D8817}"/>
              </a:ext>
            </a:extLst>
          </p:cNvPr>
          <p:cNvSpPr txBox="1"/>
          <p:nvPr/>
        </p:nvSpPr>
        <p:spPr>
          <a:xfrm>
            <a:off x="4432648" y="961588"/>
            <a:ext cx="3326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Matrix operations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3E3E63-3896-026B-360D-DEB9EB638F71}"/>
              </a:ext>
            </a:extLst>
          </p:cNvPr>
          <p:cNvSpPr txBox="1"/>
          <p:nvPr/>
        </p:nvSpPr>
        <p:spPr>
          <a:xfrm>
            <a:off x="0" y="1484807"/>
            <a:ext cx="32544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3D arrays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2A7645-28AB-97C2-A9CE-9A64328A3E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128" y="1652422"/>
            <a:ext cx="4645744" cy="424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283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E99FA-7008-81FB-E115-DC68E3666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AFE9EB21-A750-996B-69E4-E3C4C8FBA6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A5F7A0E6-4693-47FC-ADF0-82BA412A08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4EF856-CD8E-2484-A0DB-33F1275EAAFD}"/>
              </a:ext>
            </a:extLst>
          </p:cNvPr>
          <p:cNvSpPr txBox="1"/>
          <p:nvPr/>
        </p:nvSpPr>
        <p:spPr>
          <a:xfrm>
            <a:off x="3773127" y="130591"/>
            <a:ext cx="4645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MATLAB time! </a:t>
            </a:r>
          </a:p>
        </p:txBody>
      </p:sp>
      <p:pic>
        <p:nvPicPr>
          <p:cNvPr id="9" name="Picture 8" descr="A colorful curved object with a black background&#10;&#10;AI-generated content may be incorrect.">
            <a:extLst>
              <a:ext uri="{FF2B5EF4-FFF2-40B4-BE49-F238E27FC236}">
                <a16:creationId xmlns:a16="http://schemas.microsoft.com/office/drawing/2014/main" id="{D3D57F77-23B7-339B-FE0E-EA32E0980D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55" r="12955" b="2111"/>
          <a:stretch>
            <a:fillRect/>
          </a:stretch>
        </p:blipFill>
        <p:spPr>
          <a:xfrm>
            <a:off x="3478782" y="1631475"/>
            <a:ext cx="5234434" cy="41063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61A539-FEBF-5048-4138-BBAF7694677E}"/>
              </a:ext>
            </a:extLst>
          </p:cNvPr>
          <p:cNvSpPr txBox="1"/>
          <p:nvPr/>
        </p:nvSpPr>
        <p:spPr>
          <a:xfrm>
            <a:off x="2027579" y="715366"/>
            <a:ext cx="8136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Now let’s see what we covered so far in MATLAB</a:t>
            </a:r>
          </a:p>
        </p:txBody>
      </p:sp>
    </p:spTree>
    <p:extLst>
      <p:ext uri="{BB962C8B-B14F-4D97-AF65-F5344CB8AC3E}">
        <p14:creationId xmlns:p14="http://schemas.microsoft.com/office/powerpoint/2010/main" val="338647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D7227-ECC3-E9BF-1992-4606EF602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52145FC8-4430-D639-968C-353DEC59BC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12147BE3-1C1E-71F7-E876-92251E6954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4DD2C5B-7539-42C2-8BC4-CF133040F46E}"/>
              </a:ext>
            </a:extLst>
          </p:cNvPr>
          <p:cNvSpPr txBox="1"/>
          <p:nvPr/>
        </p:nvSpPr>
        <p:spPr>
          <a:xfrm>
            <a:off x="1651495" y="0"/>
            <a:ext cx="88890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0000"/>
                </a:solidFill>
              </a:rPr>
              <a:t>Part 2: functions</a:t>
            </a:r>
          </a:p>
        </p:txBody>
      </p:sp>
      <p:pic>
        <p:nvPicPr>
          <p:cNvPr id="4" name="Picture 3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BE68890C-8C76-5932-2E84-C28A00F65D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669" y="1264497"/>
            <a:ext cx="8052617" cy="45295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84214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F33CD-4439-78C1-E61E-8DA8ED5DC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34480B3C-B2B8-CFB5-AB53-F07C7E452D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8F5867D0-561A-1418-584A-4C496BAA58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25C0F2-4455-71F8-D3A8-5A53C85A77FF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CD93AF-8E7E-9B28-52BA-EEC91F95C4AF}"/>
              </a:ext>
            </a:extLst>
          </p:cNvPr>
          <p:cNvSpPr txBox="1"/>
          <p:nvPr/>
        </p:nvSpPr>
        <p:spPr>
          <a:xfrm>
            <a:off x="0" y="1730559"/>
            <a:ext cx="9281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We can think of a function as of a black box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E4C180-3547-1DDE-FC76-EC9D3957F0E2}"/>
              </a:ext>
            </a:extLst>
          </p:cNvPr>
          <p:cNvSpPr txBox="1"/>
          <p:nvPr/>
        </p:nvSpPr>
        <p:spPr>
          <a:xfrm>
            <a:off x="4879839" y="961588"/>
            <a:ext cx="2416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Introduction</a:t>
            </a:r>
          </a:p>
        </p:txBody>
      </p:sp>
      <p:pic>
        <p:nvPicPr>
          <p:cNvPr id="9" name="Picture 8" descr="A diagram of function as black box&#10;&#10;AI-generated content may be incorrect.">
            <a:extLst>
              <a:ext uri="{FF2B5EF4-FFF2-40B4-BE49-F238E27FC236}">
                <a16:creationId xmlns:a16="http://schemas.microsoft.com/office/drawing/2014/main" id="{63999CDE-C8F4-D01C-104D-A44B8B4F26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128" y="2378963"/>
            <a:ext cx="4645744" cy="34843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57211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4DCD9-3095-150B-C08D-9EE5EBA8C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D4401CCC-E99C-BB93-E7E7-D02DCF1552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CAF85476-D6FB-4E9E-ED64-AD5AA2309D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9B41FC-6C2F-2110-4D99-7A2D88DA344C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2DF15F-4AB0-41FA-FA29-A5E7EA8ECA29}"/>
              </a:ext>
            </a:extLst>
          </p:cNvPr>
          <p:cNvSpPr txBox="1"/>
          <p:nvPr/>
        </p:nvSpPr>
        <p:spPr>
          <a:xfrm>
            <a:off x="0" y="1730559"/>
            <a:ext cx="92816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In MATLAB built-in functions there are two important commands: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help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doc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7C5FCF-48B9-6BAA-B14C-9FE89562EF68}"/>
              </a:ext>
            </a:extLst>
          </p:cNvPr>
          <p:cNvSpPr txBox="1"/>
          <p:nvPr/>
        </p:nvSpPr>
        <p:spPr>
          <a:xfrm>
            <a:off x="3773127" y="959045"/>
            <a:ext cx="4645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Function documentation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EFAEE2-34CD-E41E-E1B9-2B4A23D8CAC3}"/>
              </a:ext>
            </a:extLst>
          </p:cNvPr>
          <p:cNvSpPr txBox="1"/>
          <p:nvPr/>
        </p:nvSpPr>
        <p:spPr>
          <a:xfrm>
            <a:off x="0" y="3216023"/>
            <a:ext cx="92816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Why?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While working in real project with MATLAB you will spend some decent time reading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025482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B7ED0-BC13-FDD1-541B-169E78042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1E51562F-3F82-DE6F-9014-A20382D3F5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A45896CF-575B-E0E9-DD75-7C14FE80C3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D97D65-AF4F-EC2D-8C02-9A832CB9F7BA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2F17F7-EC2D-46E8-0C97-056AB2B81FD6}"/>
              </a:ext>
            </a:extLst>
          </p:cNvPr>
          <p:cNvSpPr txBox="1"/>
          <p:nvPr/>
        </p:nvSpPr>
        <p:spPr>
          <a:xfrm>
            <a:off x="-1" y="1730559"/>
            <a:ext cx="106483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In MATLAB there is a set of rules we need to follow when making functions: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</a:rPr>
              <a:t>Function must be in separate .m file and in top of the file</a:t>
            </a:r>
          </a:p>
          <a:p>
            <a:pPr marL="457200" indent="-457200">
              <a:buFont typeface="+mj-lt"/>
              <a:buAutoNum type="arabicPeriod"/>
            </a:pPr>
            <a:endParaRPr lang="en-US" sz="2400" b="1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</a:rPr>
              <a:t>Function name must match the name of the file</a:t>
            </a:r>
          </a:p>
          <a:p>
            <a:pPr marL="457200" indent="-457200">
              <a:buFont typeface="+mj-lt"/>
              <a:buAutoNum type="arabicPeriod"/>
            </a:pPr>
            <a:endParaRPr lang="en-US" sz="2400" b="1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</a:rPr>
              <a:t>Functions have their own scope (workspace) that cannot be accessed outside of its function</a:t>
            </a:r>
          </a:p>
          <a:p>
            <a:pPr marL="457200" indent="-457200">
              <a:buFont typeface="+mj-lt"/>
              <a:buAutoNum type="arabicPeriod"/>
            </a:pP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32DAFD-98C9-3D63-D08B-3C4FD18EDC5E}"/>
              </a:ext>
            </a:extLst>
          </p:cNvPr>
          <p:cNvSpPr txBox="1"/>
          <p:nvPr/>
        </p:nvSpPr>
        <p:spPr>
          <a:xfrm>
            <a:off x="4879839" y="961588"/>
            <a:ext cx="2416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Rules</a:t>
            </a:r>
          </a:p>
        </p:txBody>
      </p:sp>
    </p:spTree>
    <p:extLst>
      <p:ext uri="{BB962C8B-B14F-4D97-AF65-F5344CB8AC3E}">
        <p14:creationId xmlns:p14="http://schemas.microsoft.com/office/powerpoint/2010/main" val="2596698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34723-183B-69E1-D96F-FA0C270E8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524BB5CC-53E6-9814-764C-1A098BE290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61162CD4-07A6-BD18-5A19-106C6B81B5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1A4365-6353-6497-A012-328647FB8F3D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Functions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FECE45-F74D-FAC2-6A54-05858B8D7B1D}"/>
              </a:ext>
            </a:extLst>
          </p:cNvPr>
          <p:cNvSpPr txBox="1"/>
          <p:nvPr/>
        </p:nvSpPr>
        <p:spPr>
          <a:xfrm>
            <a:off x="4619574" y="961588"/>
            <a:ext cx="2936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Polymorphism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6F916E-501B-1097-13A3-5C3311CD8D3C}"/>
              </a:ext>
            </a:extLst>
          </p:cNvPr>
          <p:cNvSpPr txBox="1"/>
          <p:nvPr/>
        </p:nvSpPr>
        <p:spPr>
          <a:xfrm>
            <a:off x="-1" y="1730559"/>
            <a:ext cx="106483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To use polymorphism in functions we use these special variables: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</a:rPr>
              <a:t>nargin</a:t>
            </a: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</a:rPr>
              <a:t>nargout</a:t>
            </a: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</a:rPr>
              <a:t>varargin</a:t>
            </a: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</a:rPr>
              <a:t>varargout</a:t>
            </a: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03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EE416-6EBD-B87A-2A35-824881341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020CD5CB-BB1C-00A1-E842-2D35BD6A79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ADDBCE71-14F3-247E-18CF-784640C4B7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81851D-5980-2970-CA2A-200448FD1C4C}"/>
              </a:ext>
            </a:extLst>
          </p:cNvPr>
          <p:cNvSpPr txBox="1"/>
          <p:nvPr/>
        </p:nvSpPr>
        <p:spPr>
          <a:xfrm>
            <a:off x="3773127" y="130591"/>
            <a:ext cx="4645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MATLAB time! </a:t>
            </a:r>
          </a:p>
        </p:txBody>
      </p:sp>
      <p:pic>
        <p:nvPicPr>
          <p:cNvPr id="9" name="Picture 8" descr="A colorful curved object with a black background&#10;&#10;AI-generated content may be incorrect.">
            <a:extLst>
              <a:ext uri="{FF2B5EF4-FFF2-40B4-BE49-F238E27FC236}">
                <a16:creationId xmlns:a16="http://schemas.microsoft.com/office/drawing/2014/main" id="{2D7EBF35-E9C1-2977-E10D-0CCBBB4719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55" r="12955" b="2111"/>
          <a:stretch>
            <a:fillRect/>
          </a:stretch>
        </p:blipFill>
        <p:spPr>
          <a:xfrm>
            <a:off x="3478782" y="1631475"/>
            <a:ext cx="5234434" cy="41063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356C35-0504-E661-1C50-5941CA1907AB}"/>
              </a:ext>
            </a:extLst>
          </p:cNvPr>
          <p:cNvSpPr txBox="1"/>
          <p:nvPr/>
        </p:nvSpPr>
        <p:spPr>
          <a:xfrm>
            <a:off x="2027579" y="715366"/>
            <a:ext cx="8136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Now let’s see what we covered so far in MATLAB</a:t>
            </a:r>
          </a:p>
        </p:txBody>
      </p:sp>
    </p:spTree>
    <p:extLst>
      <p:ext uri="{BB962C8B-B14F-4D97-AF65-F5344CB8AC3E}">
        <p14:creationId xmlns:p14="http://schemas.microsoft.com/office/powerpoint/2010/main" val="34619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6F56E-0E63-C343-726F-ACEC5380D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418CCC79-8A7B-1592-A703-5644814F0D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C59219C0-BBF1-8E36-881E-B4AC0010F9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0AD41F-708A-C6BA-1733-8A16225D7A63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MATLAB skill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87223B-AB6D-588A-C8C9-2F9C98515A84}"/>
              </a:ext>
            </a:extLst>
          </p:cNvPr>
          <p:cNvSpPr txBox="1"/>
          <p:nvPr/>
        </p:nvSpPr>
        <p:spPr>
          <a:xfrm>
            <a:off x="-1" y="1730559"/>
            <a:ext cx="10648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Now let’s discuss some tips and tricks when using MATLAB scripts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8" name="Picture 7" descr="A colorful curved object with a black background&#10;&#10;AI-generated content may be incorrect.">
            <a:extLst>
              <a:ext uri="{FF2B5EF4-FFF2-40B4-BE49-F238E27FC236}">
                <a16:creationId xmlns:a16="http://schemas.microsoft.com/office/drawing/2014/main" id="{A7D74510-AF44-165F-7C5F-73A19940FE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55" r="12955" b="2111"/>
          <a:stretch>
            <a:fillRect/>
          </a:stretch>
        </p:blipFill>
        <p:spPr>
          <a:xfrm>
            <a:off x="3773127" y="2561556"/>
            <a:ext cx="4064368" cy="318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42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1E474-BEC1-D686-FC5C-323390384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65B6A5DB-CD73-8E7B-54B1-068BD52030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709224E7-DC9F-52B0-7643-14EACF5D71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40029C4-DA7C-2DA5-4E42-CD64C57E0E57}"/>
              </a:ext>
            </a:extLst>
          </p:cNvPr>
          <p:cNvSpPr/>
          <p:nvPr/>
        </p:nvSpPr>
        <p:spPr>
          <a:xfrm>
            <a:off x="1503801" y="2508250"/>
            <a:ext cx="9184398" cy="1841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6600" dirty="0">
                <a:latin typeface="Arial Black" pitchFamily="34" charset="0"/>
              </a:rPr>
              <a:t>Thank you!</a:t>
            </a:r>
            <a:endParaRPr lang="ar-EG" sz="66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367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2533</TotalTime>
  <Words>332</Words>
  <Application>Microsoft Office PowerPoint</Application>
  <PresentationFormat>Widescreen</PresentationFormat>
  <Paragraphs>78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Hazem Ahmed Khairy Ahmed Abd El Halim 2200398</dc:creator>
  <cp:lastModifiedBy>youssef ahmed abdelfatah 2101059</cp:lastModifiedBy>
  <cp:revision>38</cp:revision>
  <dcterms:created xsi:type="dcterms:W3CDTF">2025-11-15T13:40:51Z</dcterms:created>
  <dcterms:modified xsi:type="dcterms:W3CDTF">2025-12-02T12:23:59Z</dcterms:modified>
</cp:coreProperties>
</file>